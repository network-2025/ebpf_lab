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6" r:id="rId2"/>
    <p:sldId id="376" r:id="rId3"/>
    <p:sldId id="377" r:id="rId4"/>
    <p:sldId id="464" r:id="rId5"/>
    <p:sldId id="379" r:id="rId6"/>
    <p:sldId id="458" r:id="rId7"/>
    <p:sldId id="459" r:id="rId8"/>
    <p:sldId id="460" r:id="rId9"/>
    <p:sldId id="463" r:id="rId10"/>
    <p:sldId id="461" r:id="rId11"/>
    <p:sldId id="465" r:id="rId12"/>
    <p:sldId id="466" r:id="rId13"/>
    <p:sldId id="467" r:id="rId14"/>
    <p:sldId id="470" r:id="rId15"/>
    <p:sldId id="471" r:id="rId16"/>
    <p:sldId id="468" r:id="rId17"/>
    <p:sldId id="526" r:id="rId18"/>
    <p:sldId id="527" r:id="rId19"/>
    <p:sldId id="472" r:id="rId20"/>
    <p:sldId id="502" r:id="rId21"/>
    <p:sldId id="476" r:id="rId22"/>
    <p:sldId id="503" r:id="rId23"/>
    <p:sldId id="504" r:id="rId24"/>
    <p:sldId id="473" r:id="rId25"/>
    <p:sldId id="479" r:id="rId26"/>
    <p:sldId id="478" r:id="rId27"/>
    <p:sldId id="474" r:id="rId28"/>
    <p:sldId id="480" r:id="rId29"/>
    <p:sldId id="481" r:id="rId30"/>
    <p:sldId id="482" r:id="rId31"/>
    <p:sldId id="483" r:id="rId32"/>
    <p:sldId id="475" r:id="rId33"/>
    <p:sldId id="484" r:id="rId34"/>
    <p:sldId id="488" r:id="rId35"/>
    <p:sldId id="489" r:id="rId36"/>
    <p:sldId id="490" r:id="rId37"/>
    <p:sldId id="491" r:id="rId38"/>
    <p:sldId id="492" r:id="rId39"/>
    <p:sldId id="493" r:id="rId40"/>
    <p:sldId id="485" r:id="rId41"/>
    <p:sldId id="494" r:id="rId42"/>
    <p:sldId id="495" r:id="rId43"/>
    <p:sldId id="496" r:id="rId44"/>
    <p:sldId id="498" r:id="rId45"/>
    <p:sldId id="499" r:id="rId46"/>
    <p:sldId id="500" r:id="rId47"/>
    <p:sldId id="501" r:id="rId48"/>
    <p:sldId id="505" r:id="rId49"/>
    <p:sldId id="506" r:id="rId50"/>
    <p:sldId id="507" r:id="rId51"/>
    <p:sldId id="510" r:id="rId52"/>
    <p:sldId id="508" r:id="rId53"/>
    <p:sldId id="511" r:id="rId54"/>
    <p:sldId id="512" r:id="rId55"/>
    <p:sldId id="513" r:id="rId56"/>
    <p:sldId id="514" r:id="rId57"/>
    <p:sldId id="516" r:id="rId58"/>
    <p:sldId id="517" r:id="rId59"/>
    <p:sldId id="518" r:id="rId60"/>
    <p:sldId id="519" r:id="rId61"/>
    <p:sldId id="520" r:id="rId62"/>
    <p:sldId id="521" r:id="rId63"/>
    <p:sldId id="522" r:id="rId64"/>
    <p:sldId id="523" r:id="rId65"/>
    <p:sldId id="525" r:id="rId6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1D641F3-A360-4323-B9E1-542034A8F4A9}">
          <p14:sldIdLst>
            <p14:sldId id="256"/>
            <p14:sldId id="376"/>
            <p14:sldId id="377"/>
            <p14:sldId id="464"/>
            <p14:sldId id="379"/>
            <p14:sldId id="458"/>
            <p14:sldId id="459"/>
            <p14:sldId id="460"/>
            <p14:sldId id="463"/>
            <p14:sldId id="461"/>
            <p14:sldId id="465"/>
            <p14:sldId id="466"/>
            <p14:sldId id="467"/>
            <p14:sldId id="470"/>
            <p14:sldId id="471"/>
            <p14:sldId id="468"/>
            <p14:sldId id="526"/>
            <p14:sldId id="527"/>
            <p14:sldId id="472"/>
            <p14:sldId id="502"/>
            <p14:sldId id="476"/>
            <p14:sldId id="503"/>
            <p14:sldId id="504"/>
            <p14:sldId id="473"/>
            <p14:sldId id="479"/>
            <p14:sldId id="478"/>
            <p14:sldId id="474"/>
            <p14:sldId id="480"/>
            <p14:sldId id="481"/>
            <p14:sldId id="482"/>
            <p14:sldId id="483"/>
            <p14:sldId id="475"/>
            <p14:sldId id="484"/>
            <p14:sldId id="488"/>
            <p14:sldId id="489"/>
            <p14:sldId id="490"/>
            <p14:sldId id="491"/>
            <p14:sldId id="492"/>
            <p14:sldId id="493"/>
            <p14:sldId id="485"/>
            <p14:sldId id="494"/>
            <p14:sldId id="495"/>
            <p14:sldId id="496"/>
            <p14:sldId id="498"/>
            <p14:sldId id="499"/>
            <p14:sldId id="500"/>
            <p14:sldId id="501"/>
            <p14:sldId id="505"/>
            <p14:sldId id="506"/>
            <p14:sldId id="507"/>
            <p14:sldId id="510"/>
            <p14:sldId id="508"/>
            <p14:sldId id="511"/>
            <p14:sldId id="512"/>
            <p14:sldId id="513"/>
            <p14:sldId id="514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5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3" userDrawn="1">
          <p15:clr>
            <a:srgbClr val="A4A3A4"/>
          </p15:clr>
        </p15:guide>
        <p15:guide id="3" pos="506" userDrawn="1">
          <p15:clr>
            <a:srgbClr val="A4A3A4"/>
          </p15:clr>
        </p15:guide>
        <p15:guide id="4" pos="688" userDrawn="1">
          <p15:clr>
            <a:srgbClr val="A4A3A4"/>
          </p15:clr>
        </p15:guide>
        <p15:guide id="5" orient="horz" pos="2183" userDrawn="1">
          <p15:clr>
            <a:srgbClr val="A4A3A4"/>
          </p15:clr>
        </p15:guide>
        <p15:guide id="6" orient="horz" pos="1706" userDrawn="1">
          <p15:clr>
            <a:srgbClr val="A4A3A4"/>
          </p15:clr>
        </p15:guide>
        <p15:guide id="7" pos="914" userDrawn="1">
          <p15:clr>
            <a:srgbClr val="A4A3A4"/>
          </p15:clr>
        </p15:guide>
        <p15:guide id="8" pos="234" userDrawn="1">
          <p15:clr>
            <a:srgbClr val="A4A3A4"/>
          </p15:clr>
        </p15:guide>
        <p15:guide id="9" pos="4362" userDrawn="1">
          <p15:clr>
            <a:srgbClr val="A4A3A4"/>
          </p15:clr>
        </p15:guide>
        <p15:guide id="10" pos="393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0000A8"/>
    <a:srgbClr val="6868CB"/>
    <a:srgbClr val="D8EEF8"/>
    <a:srgbClr val="DCEAF7"/>
    <a:srgbClr val="CCEEC0"/>
    <a:srgbClr val="95DA7C"/>
    <a:srgbClr val="5BC436"/>
    <a:srgbClr val="439028"/>
    <a:srgbClr val="64B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5698" autoAdjust="0"/>
  </p:normalViewPr>
  <p:slideViewPr>
    <p:cSldViewPr snapToGrid="0">
      <p:cViewPr varScale="1">
        <p:scale>
          <a:sx n="122" d="100"/>
          <a:sy n="122" d="100"/>
        </p:scale>
        <p:origin x="1724" y="68"/>
      </p:cViewPr>
      <p:guideLst>
        <p:guide pos="3840"/>
        <p:guide pos="393"/>
        <p:guide pos="506"/>
        <p:guide pos="688"/>
        <p:guide orient="horz" pos="2183"/>
        <p:guide orient="horz" pos="1706"/>
        <p:guide pos="914"/>
        <p:guide pos="234"/>
        <p:guide pos="4362"/>
        <p:guide pos="393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81DAD-29D0-4462-A015-AE6325E2BB42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0AF40-D5B6-4D0F-960D-F93365424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519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004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205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354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C3D6D-7762-000D-0BEC-FBBC72383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F1ED3-60D6-1558-A3A6-F236A00C3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B1C6F-8C8E-A4E2-D969-856762B8B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FF2AB-71C3-FC62-FEA5-827B7D26C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338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of BPF</a:t>
            </a:r>
          </a:p>
          <a:p>
            <a:r>
              <a:rPr lang="en-US" dirty="0"/>
              <a:t>only two registers</a:t>
            </a:r>
          </a:p>
          <a:p>
            <a:r>
              <a:rPr lang="en-US" dirty="0"/>
              <a:t>A (Accumulator): the main work register. Almost every ALU op uses A.</a:t>
            </a:r>
          </a:p>
          <a:p>
            <a:r>
              <a:rPr lang="en-US" dirty="0"/>
              <a:t>X (Index): mostly used as an offset for indirect loads, also a spare temp value.</a:t>
            </a:r>
          </a:p>
          <a:p>
            <a:endParaRPr lang="en-US" dirty="0"/>
          </a:p>
          <a:p>
            <a:r>
              <a:rPr lang="en-US" dirty="0"/>
              <a:t>No stack, only tiny scratch pad 32bit * 16 slots.</a:t>
            </a:r>
          </a:p>
          <a:p>
            <a:r>
              <a:rPr lang="en-US" dirty="0"/>
              <a:t>scratch pad is temporary per packet</a:t>
            </a:r>
          </a:p>
          <a:p>
            <a:r>
              <a:rPr lang="en-US" dirty="0"/>
              <a:t>No functions, No recursion, No calls, No loops, No persistent state</a:t>
            </a:r>
          </a:p>
          <a:p>
            <a:r>
              <a:rPr lang="en-US" dirty="0"/>
              <a:t>So suitable for simple packet filter, only determine drop/pass</a:t>
            </a:r>
          </a:p>
          <a:p>
            <a:r>
              <a:rPr lang="en-US" dirty="0" err="1"/>
              <a:t>eBPF</a:t>
            </a:r>
            <a:r>
              <a:rPr lang="en-US" dirty="0"/>
              <a:t> is 64 bit, has 10 registers, 512 byte stack per call, BPF maps for persistent/shared state, Helpers(for safe kernel APIs), bounded loops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219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498C-84F2-E5B8-C35A-84CD41358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6318A-1F5B-3653-4F67-8EC536E32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ABDDF-30F5-99DE-4051-7F2A7BE6C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Terminology Descriptions</a:t>
            </a:r>
          </a:p>
          <a:p>
            <a:endParaRPr lang="en-US" dirty="0"/>
          </a:p>
          <a:p>
            <a:r>
              <a:rPr lang="en-US" dirty="0"/>
              <a:t>Kernel API: The internal functions that the Linux kernel exposes to kernel code. </a:t>
            </a:r>
          </a:p>
          <a:p>
            <a:r>
              <a:rPr lang="en-US" dirty="0"/>
              <a:t>They are powerful but unstable for apps: only kernel modules or the kernel itself can call them directly. </a:t>
            </a:r>
          </a:p>
          <a:p>
            <a:r>
              <a:rPr lang="en-US" dirty="0" err="1"/>
              <a:t>eBPF</a:t>
            </a:r>
            <a:r>
              <a:rPr lang="en-US" dirty="0"/>
              <a:t> cannot call arbitrary kernel APIs; it must use BPF helpers (a safe subset the kernel exposes to BPF programs).</a:t>
            </a:r>
          </a:p>
          <a:p>
            <a:endParaRPr lang="en-US" dirty="0"/>
          </a:p>
          <a:p>
            <a:r>
              <a:rPr lang="en-US" dirty="0"/>
              <a:t>(BPF) Helper: Whitelisted, stable system calls for </a:t>
            </a:r>
            <a:r>
              <a:rPr lang="en-US" dirty="0" err="1"/>
              <a:t>eBPF</a:t>
            </a:r>
            <a:r>
              <a:rPr lang="en-US" dirty="0"/>
              <a:t> programs. </a:t>
            </a:r>
          </a:p>
          <a:p>
            <a:r>
              <a:rPr lang="en-US" dirty="0"/>
              <a:t>They perform safe operations on behalf of your BPF code-</a:t>
            </a:r>
          </a:p>
          <a:p>
            <a:r>
              <a:rPr lang="en-US" dirty="0"/>
              <a:t>e.g., get PID/UID (</a:t>
            </a:r>
            <a:r>
              <a:rPr lang="en-US" dirty="0" err="1"/>
              <a:t>bpf_get_current_pid_tgid</a:t>
            </a:r>
            <a:r>
              <a:rPr lang="en-US" dirty="0"/>
              <a:t>), read task name (</a:t>
            </a:r>
            <a:r>
              <a:rPr lang="en-US" dirty="0" err="1"/>
              <a:t>bpf_get_current_comm</a:t>
            </a:r>
            <a:r>
              <a:rPr lang="en-US" dirty="0"/>
              <a:t>), read packet bytes (</a:t>
            </a:r>
            <a:r>
              <a:rPr lang="en-US" dirty="0" err="1"/>
              <a:t>bpf_skb_load_bytes</a:t>
            </a:r>
            <a:r>
              <a:rPr lang="en-US" dirty="0"/>
              <a:t>), or access maps (</a:t>
            </a:r>
            <a:r>
              <a:rPr lang="en-US" dirty="0" err="1"/>
              <a:t>bpf_map_update_elem</a:t>
            </a:r>
            <a:r>
              <a:rPr lang="en-US" dirty="0"/>
              <a:t>). </a:t>
            </a:r>
          </a:p>
          <a:p>
            <a:r>
              <a:rPr lang="en-US" dirty="0"/>
              <a:t>Think “kernel-approved utility functions.”</a:t>
            </a:r>
          </a:p>
          <a:p>
            <a:endParaRPr lang="en-US" dirty="0"/>
          </a:p>
          <a:p>
            <a:r>
              <a:rPr lang="en-US" dirty="0" err="1"/>
              <a:t>kprobe</a:t>
            </a:r>
            <a:r>
              <a:rPr lang="en-US" dirty="0"/>
              <a:t>: Dynamic hocks on kernel functions. </a:t>
            </a:r>
            <a:r>
              <a:rPr lang="en-US" dirty="0" err="1"/>
              <a:t>kprobe</a:t>
            </a:r>
            <a:r>
              <a:rPr lang="en-US" dirty="0"/>
              <a:t> runs when a kernel function is entered</a:t>
            </a:r>
          </a:p>
          <a:p>
            <a:r>
              <a:rPr lang="en-US" altLang="ko-KR" dirty="0"/>
              <a:t>Use them to observe kernel behavior without patching. </a:t>
            </a:r>
            <a:r>
              <a:rPr lang="en-US" altLang="ko-KR" dirty="0" err="1"/>
              <a:t>e.g.attach</a:t>
            </a:r>
            <a:r>
              <a:rPr lang="en-US" altLang="ko-KR" dirty="0"/>
              <a:t> to __x64_sys_openat to see file opens.</a:t>
            </a:r>
          </a:p>
          <a:p>
            <a:endParaRPr lang="en-US" dirty="0"/>
          </a:p>
          <a:p>
            <a:r>
              <a:rPr lang="en-US" dirty="0" err="1"/>
              <a:t>uprobe</a:t>
            </a:r>
            <a:r>
              <a:rPr lang="en-US" dirty="0"/>
              <a:t>: like </a:t>
            </a:r>
            <a:r>
              <a:rPr lang="en-US" dirty="0" err="1"/>
              <a:t>kprobes</a:t>
            </a:r>
            <a:r>
              <a:rPr lang="en-US" dirty="0"/>
              <a:t>, but for user space functions. great for tracing a specific process or library e.g. tracing </a:t>
            </a:r>
            <a:r>
              <a:rPr lang="en-US" dirty="0" err="1"/>
              <a:t>libc</a:t>
            </a:r>
            <a:r>
              <a:rPr lang="en-US" dirty="0"/>
              <a:t> function calls</a:t>
            </a:r>
          </a:p>
          <a:p>
            <a:endParaRPr lang="en-US" dirty="0"/>
          </a:p>
          <a:p>
            <a:r>
              <a:rPr lang="en-US" dirty="0" err="1"/>
              <a:t>tc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inux’s framework to classify/shape/filter packets on ingress/egress of a NIC. 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eBPF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programs can attach at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inspect/mark/redirect packets in the networking stack (later than XDP, earlier than sockets).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Good for policy enforcement, shaping, or advanced filtering.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XDP(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eXpress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Path): A very early, very fast hook in the NIC driver receive path. 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eBPF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at XDP can decide drop / pass / transmit back / redirect before most of the network stack runs.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Best for high-performance use cases (DDoS mitigation, fast filtering, load-balancing).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LSM(Linux Security Module): LSM is the kernel’s security hook framework.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eBPF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LSM lets BPF programs observe or enforce decisions on security-relevant events (like file open, socket connect) within LSM hooks-useful for auditing or lightweight policy.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JIT(Just In Time) compiler: After verification, the kernel translates BPF bytecode into native CPU instructions so it runs fast.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JIT is why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eBPF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has low overhead even though it’s sandboxed.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9AD30-5578-3E4C-3BFC-995574AF2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941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CAF4-A4D5-C2C4-D516-AD45822C7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966F4F-BF24-57B6-E976-8C7E08965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2E6DC-D688-18F8-142D-26EAB6A5E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3A747-E5AB-3993-498B-F1466285A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93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ED151-EE67-7CF9-E55E-5C0EE608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C6A22-0F68-4043-3B6B-C2D2015F1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9284A-F044-FDDE-6696-44E253287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D48FE-C319-941E-E97B-4C8C76DD8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550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4B70B-196D-A5F0-1018-F6ED2D1AD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E2665-DC36-37BD-70D3-2CAFB2A95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ACC0A-1F32-7D44-C9C9-01CCE80FB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 is kernel-side key/value store that both BPF code and user space can access.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are different map types implemented by the kernel (e.g., HASH, ARRAY, PERCPU_HASH, LRU_HASH, RINGBUF, …).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pick one type when you declare the map.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choice controls behavior (e.g., per-CPU storage, LRU eviction, streaming events).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then use helpers (e.g.,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bpf_map_lookup_elem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to read/write.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3FB16-D3C4-9248-4A2B-71A9F6633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544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7B734-CA07-42B1-5C8A-C9F692AA9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5C916-668E-5636-EE73-836599604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DF79B-7543-EC2C-195C-53E603F13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XDP(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eXpress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Path): A very early, very fast hook in the NIC driver receive path. 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eBPF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at XDP can decide drop / pass / transmit back / redirect before most of the network stack runs.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Best for high-performance use cases (DDoS mitigation, fast filtering, load-balancing).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LSM(Linux Security Module): LSM is the kernel’s security hook framework.</a:t>
            </a:r>
          </a:p>
          <a:p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eBPF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LSM lets BPF programs observe or enforce decisions on security-relevant events (like file open, socket connect) within LSM hooks-useful for auditing or lightweight policy.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37AF6-B276-53CF-477B-D17BEA355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5675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E7745-3BA1-D1E3-2632-F60DA1E4A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7C55C-55B6-66BA-7E1A-D7BDEC715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9538B-D652-8112-10A2-CDD9056B7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 of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ebpf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hook points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C9020-E915-D319-70B9-05C137510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385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4317B-9B9E-B705-3271-073BD044A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3A3E8-6FC2-6B1D-A4CF-80D5D6733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25671-F605-6B74-60F5-47AFB2D70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A151B-AAC9-1582-5670-1070372C9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35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7B840-544D-68EC-E357-677FD0C5D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2D33E-4A1E-091C-A109-9981DACBC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94364-E23A-717B-10FA-A47161EBA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A7042-E637-4176-4364-D1B06DB92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346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CCD64-C704-C65F-EA9C-D3AFA99B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4289C-0744-B2EC-F5E4-5FB80350E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D90DA-48C5-3227-EF86-7CFC09606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F5878-284A-805C-022D-1792DCB51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025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976F1-EFA4-7250-5E40-103AC14E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6E300-E2DC-E6B3-432A-682C4371A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49DF4-D414-81D6-EF98-EB787934B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1407B-4095-8EAF-BC05-2C7318A07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767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856F9-B9E4-1114-7A47-EB650E3E5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B9114-D400-1648-5B42-BF78F62EF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71D55-94FE-76CC-E3A1-C085E6326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Although it’s called a packet filter, it’s actually used in a much wider range of applications. The name “packet filter” is kept mainly for tradition.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9EBB1-BB19-8138-8D14-D69DA79266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2501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A234F-CF40-332B-5C91-1200A0B1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BCC12-315A-8937-A0B4-02A8EBEAD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3C986-222E-7CDC-5D73-116659F90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B420A-DB75-4C85-91AD-291BA7D8C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5326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A70B6-F144-2839-4F08-69866AA8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02F3D-51C8-30B2-D91F-CAF4D188F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3BD22-5714-11D0-59AE-DB88C9992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Although it’s called a packet filter, it’s actually used in a much wider range of applications. The name “packet filter” is kept mainly for tradition.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C6A0C-04CA-059C-CEED-500FCDC7D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373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E106-35FA-1BE2-DAFA-37113A17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2C7AA-0812-9C91-22B2-32113AC9B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F7FA6C-D27E-26C5-44E9-FCE9FF7B8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C6901-B3FE-A522-839C-B90757A82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5263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DF526-80F9-1F42-511C-F4F0A225D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988E2-BB0A-CD87-21F4-2177CCEF6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C3E30-8E84-A11C-7F69-6890975E8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AEB3A-FF86-542E-0443-FE5300FD6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510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7E6EB-4AF3-AD8C-713B-292A5C21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E91C2-2F18-717E-9899-5DE3C121A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EF846-EDFE-EE0A-C3A9-434354B5C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 reference, no need to remember.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405CF-14B9-39BC-2160-31747FC3B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0853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2BBB-9ED6-EE83-F537-75432E687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202AD-232C-C26B-375D-F63411D9D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8C795-1F59-96EB-FB18-014438F9E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58168-2BC7-4C6A-242B-C8A78A383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057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C6704-752F-755E-5DD5-E946221EB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55042B-2B45-2978-67C9-6BC704220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1E29E-2FCB-8788-0AE7-39BCD553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E1589-552E-70D2-C8F2-3CF273C1F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597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1C8A2-8010-C17B-6199-EF3B4AA94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CD456-8117-8DB4-C538-C1955FB22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77DD8-AA53-83B5-EE0A-03896BB91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34D3D-5F69-B2A0-47EA-B61735042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2612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43A6E-6828-5FF3-7B1A-8F7297241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F659B-DB30-D1BD-4D52-B3527CF00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91BBF-5C31-2A32-F1CC-8477B6FE3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2CAE4-9888-C537-E577-11980CAA2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5497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01E69-2A67-5202-1C34-21FFD7429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7A298-3BAB-87E8-B4EC-4EEC1CA38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B5918-6EA0-A440-63B2-F613C47BE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6F010-FB92-0BDD-EE18-23F2CD3D6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7914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173FB-3697-94DD-EF3B-5DC31A3DB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3B284-D6E8-3FC5-866F-DEB5C436C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5D6E1-F013-D620-A8E2-3C2121D25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745EE-96E1-6807-484A-235851ECDE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7008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A7844-E1A2-C6CF-9CBD-427B06F0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1935A-84DD-FCE0-09C5-672C09F41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0BF4E-B180-7F50-5BFE-9977A8034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BA064-57BE-35C5-B205-9ABBAE844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9534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5D34-452F-8F9D-1F68-24A25F87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E78E8-8619-7268-81F2-C6B3FD15B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8CF20-5A2B-1F43-64E7-F94DF8D49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6DD71-07C9-5CFA-06EB-70F06C8317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9754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B44BB-1D83-14F7-2914-83FFFDC24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D0C7A-A21E-2B03-9B8C-4B1B83595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A5F6F-7C6F-A1D1-C77A-C26A958E8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540A1-683F-6D62-E680-0187E0591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1890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2527-1250-A245-2874-8F154B68B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281A7-B858-D089-56DD-FB68787EF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02F39-9DA8-43F7-D4C1-B2A2E6125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58003-A41E-A567-CC5D-9C3674B5B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0513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40B76-DCA6-282E-66B6-DE9883AF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08951-DDE3-F5C0-2797-02BCA279F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62DCC-AE9E-F9B6-FB43-0A03E64B9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69304-F78B-F7C1-EF08-6B4C0C543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7680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B7EE0-24FF-7D4C-813F-797FA0038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A0E28-3E95-B4BB-36A1-A70FF55CD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81AF2-74E1-0B7B-2E23-41B09397C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03218-C38B-5642-BA5B-AEB0AD687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2469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27377-8363-D0D0-1BED-433816E7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D9DCC-1F18-F4BC-EB47-AA91D40DD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4AD5B-D6D8-1456-ED63-684E473D8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C979B-AF7E-9174-AB3D-797666D8A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5841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FDEA1-2BC1-B1F7-5313-16F5DD172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FA6DE-8EBA-5350-38AD-90527CF33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E6A6C-B504-5E49-733E-23038F7B6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7222B-A63B-E507-2F36-D411DC3D8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1427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A5D0-8183-23A8-17AB-227DBAEFF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EDDD1-BB64-3B14-B4CD-D528CF2AB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F9C30-3842-80B5-8AE7-5A46B7EA1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9278D-970B-750D-D4F2-7DE9FB39E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580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15F11-160F-A6A2-3454-9DA05FB2B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35151-5D10-8041-B1EF-914B7345E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090CC-D666-36EB-FC73-C1EB8B226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7962B-432A-3BE0-072F-C6F26F91E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6014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445B5-7FBF-486D-0169-223D834FE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98AB9-B329-CBF1-5DF1-9D49B5597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73EC9-5DE1-6E20-25E3-DFFB68B71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995B9-45AE-0B12-5C2C-4E32F5324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8158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656F3-AA9E-00E1-B9B8-EBFB2FD29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E59AF-A96A-B7F0-F484-A518B1B71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DA144-5119-AB04-986E-6AD382850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994A9-5DB0-CDA3-6A23-ABEFB5C51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8842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802B4-E6B1-6A5D-328C-D1712452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C9181-994F-8668-3288-B2A05F6CB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2CAF5-DAEA-AEAA-6229-33EBD914D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B8125-21AA-8D35-1224-99F5FF7BC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6942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3F8DE-AF26-7EA4-B104-D7B1F9F17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9200D-FB61-5849-3E82-6B745A579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5988E-4801-4C29-DBAA-E63D528AF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63E71-33B9-9D57-09B2-AA8049662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14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4F2E1-CB37-1AA8-0FB4-AEDB0E6F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31F0E-4ABA-6EEB-0804-A0ED93982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A04E0-843D-EFCD-E19C-14FE04401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B5D9B-83F5-C139-0F82-D35CBCDA7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7327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E659-4B31-C837-D265-D1BCDA91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EB1C2-88F4-6256-E11A-CE30A1058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08895-C01E-0E88-FDC7-E30DCC18A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60742-3FC3-2CF8-AE8D-B45435DFB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8057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67963-2BC6-CC86-73F3-9FF477A63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CEA0C-FA27-E72C-C33A-F308163E6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C7CAB-1265-F8AC-96C1-B07C944F9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2CB92-BA84-CEE6-CE31-68D2F820B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0005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2E037-3960-50DA-592F-DC0470DA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5491C-F66F-263E-F009-682B810D0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33A42-106C-D665-86F1-BBD4B0B15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8003B-548A-3CC1-AE58-EB8CD1AFB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4173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9EC83-0062-03B1-FEDA-756ED310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D90CD-E199-3B30-77B0-1DC672671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B6E40-C252-05EB-6BAA-1E8840206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B14C6-ACE9-E611-0A95-DEE62E7DB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4362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A6D3F-14F9-F742-2DBB-64EA054A2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69E00-8E5F-91EC-0527-ABF5C4985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323C6-7B02-31E3-B504-4433A964C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B747B-F490-735C-5414-38000D263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74405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9029-2DE4-95F2-7406-20CFA4E04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FA0086-BE42-F0B9-EC16-B7B154D1D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C93BB-D6CA-1919-281B-516D368E7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BF8C1-2B58-1DBE-31B0-BD13757F35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75678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98556-7DEC-CEE9-1D0F-A2E3D17C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09E71-9E00-EBD4-756C-193FD74E6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2D0F7-03CC-FB47-9FEC-3D4BC074B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53B18-BE98-67FC-31A2-A1D4AACBD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9741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D8C76-C28A-2559-AC9E-7E0A36FD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48E4F-FD9C-2401-0F5F-18472555D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8D0E0-451B-0158-8FB4-4700D8FC6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B99BC-E8CC-C1B3-1A44-8BD4178CE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8853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6C19-CF9A-1DD7-A02B-9883DE86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54DF4-2E71-D36B-01B1-F061628F9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41608-78AE-7D3A-68AB-00208710A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DE1E4-64D6-F5A2-079A-5D85DC7EE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44680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FE5F9-3095-25C6-F44C-516BA807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49C42-985D-91C3-EF1A-BB485D35B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4F8A4-FFB0-E94A-9DE7-DCDB8883A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A5B28-E408-2568-F3E9-995DC22C2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92673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31951-DF8D-8512-7683-F88C9CB6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4C0285-325E-80FC-A740-0A8FD08F8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2BCBBF-42D7-15B2-08C9-6B824B2C2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D25D9-FBB4-1EC1-C3D9-19964ED91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6999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FDD86-12BA-AAFC-CB81-70128233F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6AC29-C11D-E3E1-CB76-6498A4B71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D9B0A-1775-90CB-8AB4-E98EB6BC9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B394E-9676-55A8-825A-65FD708FC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194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0E619-2635-3A5D-FCCA-A0D08BD89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5A9919-6020-BBA9-7F3B-D8EA0E197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CD096-8CBD-A3E6-99AA-AE1BC89F5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1ACF9-F6F6-5032-F719-F594EAEB4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2158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435E4-DC38-8F91-01EF-8595BD4E8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4D24F-64DC-8AE4-0B71-E12221DB1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E6F38-1C95-1BB2-8AA1-FC76DDB82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C741B-2E7F-2688-FFF1-E99468978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67342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1D714-F8C8-3D85-A8A2-B3EB0D80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13255-E0BE-60AC-DB90-B905F5196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D4669-629D-0585-BFF1-75C929F61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A1A6C-86B7-431A-0CAF-6D974A519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67139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47CC9-E203-9890-7455-498EAA01A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4DDCF-B480-AC47-DD90-691B0D6A6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E2635-6974-4C21-8B00-65AE1378D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CFB82-5B51-0DAC-C807-F81ECCB42E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58780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7663F-B13C-D462-6111-C19E95FEB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C2D88-8302-0C33-6135-C764216F6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56CEA-AA5E-9411-60B9-544F6F186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AD121-1F4A-593F-611C-B34E8A417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34418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5F28-A324-3573-D30A-0CD6581AB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6C8CE-D5FA-6EDD-70B5-46395DCB8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FBC7A-5A7D-9AFF-2F8E-D476664DB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4C48A-FC9C-870A-64FA-B3A09016C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24014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C829E-7561-28AD-D53E-8AF90567F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E7EE3-9920-8EB4-7DD1-204289041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7A36A8-706A-5F76-4845-67DFBCC24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075DD-D991-C3A1-B631-CA0A52737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42372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F6775-D32A-59E0-89E1-F83DE8DC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C580A-14D0-26C0-18D7-A95944A09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124A9-412B-B1ED-B312-7AE8BF691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17ED7-09B2-ECE4-AA7C-9F0C6E122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50823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F3108-F530-4AC9-51BA-D9018E29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7A9EB-6DD9-9520-4935-0BF74FE2A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62E7D-B49F-DFBE-69CC-1F9712F2A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055D8-8279-F59F-B363-7C5717A9E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14043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4F0ED-75B9-6397-CC58-12ABB80B4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56E3C-0614-9DAB-010A-0AC61DBD2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99A34-1923-B356-4821-9409565E6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1DFE8-2378-C3DC-5E9F-86493B104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18577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1BA13-9095-90F3-638E-C862B84E5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6854E-959B-E095-275C-AD3A682C7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02327-CEED-D49E-A2CF-5C9849841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43733-DD41-2BA4-B64D-8BD75AE33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09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C0F0B0-4140-1C76-63C4-54B46EEA8F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86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컴퓨터, 노트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74971-476E-8EF1-582B-D144623DA9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그림 9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985EB3-79D9-E4EC-1CB5-14184EB266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187777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45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DB7BA6-6C5A-CC32-41A0-24BFD9C0D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4D02A3F-6247-9A9D-4F19-B05330988786}"/>
              </a:ext>
            </a:extLst>
          </p:cNvPr>
          <p:cNvSpPr/>
          <p:nvPr userDrawn="1"/>
        </p:nvSpPr>
        <p:spPr>
          <a:xfrm>
            <a:off x="849086" y="1281793"/>
            <a:ext cx="1657350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Objectives</a:t>
            </a:r>
            <a:endParaRPr lang="ko-KR" altLang="en-US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EF6A61-7120-6522-097E-B94E4DDFA020}"/>
              </a:ext>
            </a:extLst>
          </p:cNvPr>
          <p:cNvSpPr/>
          <p:nvPr userDrawn="1"/>
        </p:nvSpPr>
        <p:spPr>
          <a:xfrm>
            <a:off x="849086" y="3967843"/>
            <a:ext cx="1657350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Contents</a:t>
            </a:r>
            <a:endParaRPr lang="ko-KR" altLang="en-US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pic>
        <p:nvPicPr>
          <p:cNvPr id="7" name="그림 6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EB621A-BC91-C8D7-B7AB-BDB45BD57F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91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라인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B4BB1E-5FC2-4309-21E8-F9848F2634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60299A-5BC8-B86D-134D-A9FEF68090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28966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62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783FCF-F238-4D47-4122-4F4C44D341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FC8D51F-3D32-F0F8-0570-68313C57DE4C}"/>
              </a:ext>
            </a:extLst>
          </p:cNvPr>
          <p:cNvSpPr/>
          <p:nvPr userDrawn="1"/>
        </p:nvSpPr>
        <p:spPr>
          <a:xfrm>
            <a:off x="0" y="996043"/>
            <a:ext cx="1094017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800" b="1" spc="-90" baseline="0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Practice</a:t>
            </a:r>
            <a:endParaRPr lang="ko-KR" altLang="en-US" sz="1800" b="1" spc="-90" baseline="0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2A2541-53C8-F763-8B6D-11C8B14C8E56}"/>
              </a:ext>
            </a:extLst>
          </p:cNvPr>
          <p:cNvSpPr/>
          <p:nvPr userDrawn="1"/>
        </p:nvSpPr>
        <p:spPr>
          <a:xfrm>
            <a:off x="532559" y="65313"/>
            <a:ext cx="865414" cy="244929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 b="1" spc="-9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Session 1</a:t>
            </a:r>
            <a:endParaRPr lang="ko-KR" altLang="en-US" sz="1400" b="1" spc="-90" baseline="0" dirty="0">
              <a:solidFill>
                <a:schemeClr val="tx1">
                  <a:lumMod val="65000"/>
                  <a:lumOff val="35000"/>
                </a:schemeClr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pic>
        <p:nvPicPr>
          <p:cNvPr id="3" name="그림 2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68EA07-8D41-6B73-BA20-44A98DF3B1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5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9BCE40-24B2-567B-53C1-3F06ED91B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6AEC81-E756-A201-4018-753B48C91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C2B6E-0DC8-95AB-AFCD-A8CA0BDA3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54C5D-CAEA-481F-9E3C-DFCA8FF6AF9F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F08408-0AE4-9B6A-7D21-534892EB3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B20A9D-C8DE-E46E-E422-1A617D89E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8E5E5-B2BF-4DA4-A3BB-10F5BC228E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95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hyperlink" Target="https://elixir.bootlin.com/linux/v6.16.4/source" TargetMode="Externa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eunomia.dev/tutorials/bcc-documents/reference_guide_en/" TargetMode="Externa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eunomia.dev/tutorials/bcc-documents/reference_guide_en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cc.gnu.org/onlinedocs/gcc/Byte-Swapping-Builtins.htm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0CB8ED-652E-2D80-DEF3-DA11E01FA3A9}"/>
              </a:ext>
            </a:extLst>
          </p:cNvPr>
          <p:cNvSpPr txBox="1"/>
          <p:nvPr/>
        </p:nvSpPr>
        <p:spPr>
          <a:xfrm>
            <a:off x="5723141" y="5239886"/>
            <a:ext cx="745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err="1">
                <a:latin typeface="Pretendard Medium" panose="02000603000000020004" pitchFamily="2" charset="-127"/>
                <a:ea typeface="Pretendard Medium" panose="02000603000000020004" pitchFamily="2" charset="-127"/>
              </a:rPr>
              <a:t>eBPF</a:t>
            </a:r>
            <a:endParaRPr lang="ko-KR" altLang="en-US" sz="20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53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4442791" y="3124493"/>
            <a:ext cx="3306418" cy="609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Background: </a:t>
            </a:r>
            <a:r>
              <a:rPr lang="en-US" altLang="ko-KR" sz="3000" dirty="0" err="1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eBPF</a:t>
            </a:r>
            <a:endParaRPr lang="en-US" altLang="ko-KR" sz="30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711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8CDECC-A2E1-64A0-7BE1-13CAD404FB89}"/>
              </a:ext>
            </a:extLst>
          </p:cNvPr>
          <p:cNvSpPr txBox="1"/>
          <p:nvPr/>
        </p:nvSpPr>
        <p:spPr>
          <a:xfrm>
            <a:off x="1310052" y="1824877"/>
            <a:ext cx="9590749" cy="1718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/>
              <a:t>Learn the benefits of </a:t>
            </a:r>
            <a:r>
              <a:rPr lang="en-US" altLang="ko-KR" sz="2000" dirty="0" err="1"/>
              <a:t>eBPF</a:t>
            </a:r>
            <a:r>
              <a:rPr lang="en-US" altLang="ko-KR" sz="2000" dirty="0"/>
              <a:t> for observability, networking, and security without kernel modification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/>
              <a:t>Understand the overall </a:t>
            </a:r>
            <a:r>
              <a:rPr lang="en-US" altLang="ko-KR" sz="2000" dirty="0" err="1"/>
              <a:t>eBPF</a:t>
            </a:r>
            <a:r>
              <a:rPr lang="en-US" altLang="ko-KR" sz="2000" dirty="0"/>
              <a:t> program architecture </a:t>
            </a:r>
            <a:endParaRPr lang="en-US" altLang="ko-KR" dirty="0">
              <a:latin typeface="ONE 모바일고딕 Regular" panose="00000500000000000000" pitchFamily="2" charset="-127"/>
              <a:ea typeface="ONE 모바일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endParaRPr lang="en-US" altLang="ko-KR" sz="1200" dirty="0">
              <a:latin typeface="ONE 모바일고딕 Regular" panose="00000500000000000000" pitchFamily="2" charset="-127"/>
              <a:ea typeface="ONE 모바일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DEAF6-38EC-FFA1-499C-CC432CE9CD1B}"/>
              </a:ext>
            </a:extLst>
          </p:cNvPr>
          <p:cNvSpPr txBox="1"/>
          <p:nvPr/>
        </p:nvSpPr>
        <p:spPr>
          <a:xfrm>
            <a:off x="1310052" y="4387230"/>
            <a:ext cx="9590749" cy="1879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/>
              <a:t>Background and Motivation Behind </a:t>
            </a:r>
            <a:r>
              <a:rPr lang="en-US" altLang="ko-KR" sz="2000" dirty="0" err="1"/>
              <a:t>eBPF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/>
              <a:t>Key Advantages of </a:t>
            </a:r>
            <a:r>
              <a:rPr lang="en-US" altLang="ko-KR" sz="2000" dirty="0" err="1"/>
              <a:t>eBPF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 err="1"/>
              <a:t>eBPF</a:t>
            </a:r>
            <a:r>
              <a:rPr lang="en-US" altLang="ko-KR" sz="2000" dirty="0"/>
              <a:t> Architecture Overview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 err="1"/>
              <a:t>eBPF</a:t>
            </a:r>
            <a:r>
              <a:rPr lang="en-US" altLang="ko-KR" sz="2000" dirty="0"/>
              <a:t> Use Cases</a:t>
            </a:r>
            <a:endParaRPr lang="en-US" altLang="ko-KR" sz="2000" dirty="0">
              <a:latin typeface="ONE 모바일고딕 Regular" panose="00000500000000000000" pitchFamily="2" charset="-127"/>
              <a:ea typeface="ONE 모바일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6720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CF23B-0E08-69F3-6000-375AAA63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8B8D34BF-C566-21D8-5D0C-D776B4E71829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A3DCC62-B7C1-FB5E-A705-A0A40322652B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What is </a:t>
              </a:r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eBPF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?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266F667-79EE-F338-A154-8460C3C38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673A3AC-D581-4D1A-FF59-7A52C7ABD895}"/>
              </a:ext>
            </a:extLst>
          </p:cNvPr>
          <p:cNvSpPr txBox="1"/>
          <p:nvPr/>
        </p:nvSpPr>
        <p:spPr>
          <a:xfrm>
            <a:off x="1578316" y="2285936"/>
            <a:ext cx="9035367" cy="3356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 err="1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eBPF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: Like extensions in chrome browser, you can add features via approved APIs, without rewrite the kernel</a:t>
            </a:r>
          </a:p>
          <a:p>
            <a:pPr marL="800100" lvl="1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ea typeface="SF싸락눈" panose="02000503000000000000" pitchFamily="2" charset="-127"/>
              </a:rPr>
              <a:t>No need to reboot or rebuild the kernel</a:t>
            </a:r>
            <a:endParaRPr lang="en-US" altLang="ko-KR" sz="2000" dirty="0">
              <a:solidFill>
                <a:srgbClr val="C00000"/>
              </a:solidFill>
              <a:latin typeface="SF싸락눈" panose="02000503000000000000" pitchFamily="2" charset="-127"/>
              <a:ea typeface="SF싸락눈" panose="02000503000000000000" pitchFamily="2" charset="-127"/>
            </a:endParaRPr>
          </a:p>
          <a:p>
            <a:pPr marL="800100" lvl="1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ea typeface="SF싸락눈" panose="02000503000000000000" pitchFamily="2" charset="-127"/>
              </a:rPr>
              <a:t>Attach at critical points </a:t>
            </a:r>
            <a:r>
              <a:rPr lang="en-US" altLang="ko-KR" sz="2000" dirty="0">
                <a:ea typeface="SF싸락눈" panose="02000503000000000000" pitchFamily="2" charset="-127"/>
              </a:rPr>
              <a:t>to capture detailed data for networking, security, and performance</a:t>
            </a:r>
          </a:p>
          <a:p>
            <a:pPr marL="800100" lvl="1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ea typeface="SF싸락눈" panose="02000503000000000000" pitchFamily="2" charset="-127"/>
              </a:rPr>
              <a:t>Filter/transform early, enforce policies, and modify packet or system behavior with low overhead</a:t>
            </a:r>
          </a:p>
        </p:txBody>
      </p:sp>
      <p:pic>
        <p:nvPicPr>
          <p:cNvPr id="2" name="Picture 2" descr="eBPF 에 대해 알아보자 (1)">
            <a:extLst>
              <a:ext uri="{FF2B5EF4-FFF2-40B4-BE49-F238E27FC236}">
                <a16:creationId xmlns:a16="http://schemas.microsoft.com/office/drawing/2014/main" id="{24E2C6E1-8027-B9CD-F06B-46A92E578D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45" t="35215" r="19986" b="25938"/>
          <a:stretch>
            <a:fillRect/>
          </a:stretch>
        </p:blipFill>
        <p:spPr bwMode="auto">
          <a:xfrm>
            <a:off x="3308365" y="1037462"/>
            <a:ext cx="1668162" cy="605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692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846A1A-3F77-CFAF-0BFC-FD99A573A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837"/>
          <a:stretch>
            <a:fillRect/>
          </a:stretch>
        </p:blipFill>
        <p:spPr>
          <a:xfrm>
            <a:off x="8458201" y="1642944"/>
            <a:ext cx="3608070" cy="3322529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Classic</a:t>
              </a:r>
              <a:r>
                <a:rPr lang="ko-KR" altLang="en-US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BPF(Berkeley Packet Filter)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458844" y="1642944"/>
            <a:ext cx="9035367" cy="4701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BPF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: A in-kernel virtual machine for packet filtering </a:t>
            </a:r>
          </a:p>
          <a:p>
            <a:pPr marL="800100" lvl="1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269875" algn="l"/>
              </a:tabLst>
            </a:pPr>
            <a:r>
              <a:rPr lang="en-US" altLang="ko-KR" dirty="0">
                <a:solidFill>
                  <a:srgbClr val="C00000"/>
                </a:solidFill>
                <a:ea typeface="SF싸락눈" panose="02000503000000000000" pitchFamily="2" charset="-127"/>
              </a:rPr>
              <a:t>How it works</a:t>
            </a:r>
            <a:r>
              <a:rPr lang="en-US" altLang="ko-KR" dirty="0">
                <a:latin typeface="SF싸락눈" panose="02000503000000000000" pitchFamily="2" charset="-127"/>
                <a:ea typeface="SF싸락눈" panose="02000503000000000000" pitchFamily="2" charset="-127"/>
              </a:rPr>
              <a:t>: A small bytecode program runs on each packet and returns either drop(0) or pass(N) N bytes to the socket</a:t>
            </a:r>
          </a:p>
          <a:p>
            <a:pPr marL="800100" lvl="1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269875" algn="l"/>
              </a:tabLst>
            </a:pPr>
            <a:r>
              <a:rPr lang="en-US" altLang="ko-KR" dirty="0">
                <a:solidFill>
                  <a:srgbClr val="C00000"/>
                </a:solidFill>
                <a:ea typeface="SF싸락눈" panose="02000503000000000000" pitchFamily="2" charset="-127"/>
              </a:rPr>
              <a:t>Advantages</a:t>
            </a:r>
            <a:r>
              <a:rPr lang="en-US" altLang="ko-KR" dirty="0">
                <a:latin typeface="SF싸락눈" panose="02000503000000000000" pitchFamily="2" charset="-127"/>
                <a:ea typeface="SF싸락눈" panose="02000503000000000000" pitchFamily="2" charset="-127"/>
              </a:rPr>
              <a:t>: Super fast, safe by construction (no backward jumps, bounded size), no kernel patch needed; great for capture-only use cases.</a:t>
            </a:r>
          </a:p>
          <a:p>
            <a:pPr marL="800100" lvl="1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tabLst>
                <a:tab pos="269875" algn="l"/>
              </a:tabLst>
            </a:pPr>
            <a:r>
              <a:rPr lang="en-US" altLang="ko-KR" dirty="0">
                <a:solidFill>
                  <a:srgbClr val="C00000"/>
                </a:solidFill>
                <a:ea typeface="SF싸락눈" panose="02000503000000000000" pitchFamily="2" charset="-127"/>
              </a:rPr>
              <a:t>Limitations:</a:t>
            </a:r>
          </a:p>
          <a:p>
            <a:pPr marL="1257300" lvl="2" indent="-342900">
              <a:lnSpc>
                <a:spcPct val="150000"/>
              </a:lnSpc>
              <a:buFontTx/>
              <a:buChar char="-"/>
              <a:tabLst>
                <a:tab pos="269875" algn="l"/>
              </a:tabLst>
            </a:pPr>
            <a:r>
              <a:rPr lang="en-US" altLang="ko-KR" dirty="0">
                <a:latin typeface="SF싸락눈" panose="02000503000000000000" pitchFamily="2" charset="-127"/>
                <a:ea typeface="SF싸락눈" panose="02000503000000000000" pitchFamily="2" charset="-127"/>
              </a:rPr>
              <a:t>Focused on packets only</a:t>
            </a:r>
          </a:p>
          <a:p>
            <a:pPr marL="1257300" lvl="2" indent="-342900">
              <a:lnSpc>
                <a:spcPct val="150000"/>
              </a:lnSpc>
              <a:buFontTx/>
              <a:buChar char="-"/>
              <a:tabLst>
                <a:tab pos="269875" algn="l"/>
              </a:tabLst>
            </a:pPr>
            <a:r>
              <a:rPr lang="en-US" altLang="ko-KR" dirty="0">
                <a:latin typeface="SF싸락눈" panose="02000503000000000000" pitchFamily="2" charset="-127"/>
                <a:ea typeface="SF싸락눈" panose="02000503000000000000" pitchFamily="2" charset="-127"/>
              </a:rPr>
              <a:t>Limited ISA(Instruction Set Architecture)(32 bit, only 2 registers, tiny scratch pad)</a:t>
            </a:r>
          </a:p>
          <a:p>
            <a:pPr marL="1257300" lvl="2" indent="-342900">
              <a:lnSpc>
                <a:spcPct val="150000"/>
              </a:lnSpc>
              <a:buFontTx/>
              <a:buChar char="-"/>
              <a:tabLst>
                <a:tab pos="269875" algn="l"/>
              </a:tabLst>
            </a:pPr>
            <a:r>
              <a:rPr lang="en-US" altLang="ko-KR" dirty="0">
                <a:latin typeface="SF싸락눈" panose="02000503000000000000" pitchFamily="2" charset="-127"/>
                <a:ea typeface="SF싸락눈" panose="02000503000000000000" pitchFamily="2" charset="-127"/>
              </a:rPr>
              <a:t>Actions limited to accept/drop for that socket; cannot modify/redirect</a:t>
            </a:r>
          </a:p>
          <a:p>
            <a:pPr marL="1257300" lvl="2" indent="-342900">
              <a:lnSpc>
                <a:spcPct val="150000"/>
              </a:lnSpc>
              <a:buFontTx/>
              <a:buChar char="-"/>
              <a:tabLst>
                <a:tab pos="269875" algn="l"/>
              </a:tabLst>
            </a:pPr>
            <a:r>
              <a:rPr lang="en-US" altLang="ko-KR" dirty="0">
                <a:latin typeface="SF싸락눈" panose="02000503000000000000" pitchFamily="2" charset="-127"/>
                <a:ea typeface="SF싸락눈" panose="02000503000000000000" pitchFamily="2" charset="-127"/>
              </a:rPr>
              <a:t>Executes late (at socket), so you can’t drop packet early</a:t>
            </a:r>
          </a:p>
        </p:txBody>
      </p:sp>
    </p:spTree>
    <p:extLst>
      <p:ext uri="{BB962C8B-B14F-4D97-AF65-F5344CB8AC3E}">
        <p14:creationId xmlns:p14="http://schemas.microsoft.com/office/powerpoint/2010/main" val="4069480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FC41B-96A3-674E-19BF-6E74DAF67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1E6E776-0BC9-46B5-6DFA-3546B401A8EB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DBA559-C8E5-0E39-FA3B-F8751CAE0527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eBPF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: Design goals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1393557-608C-C025-20D7-7A85599E8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AC5899F-3A4C-9D0F-B8AB-6AE833443529}"/>
              </a:ext>
            </a:extLst>
          </p:cNvPr>
          <p:cNvSpPr txBox="1"/>
          <p:nvPr/>
        </p:nvSpPr>
        <p:spPr>
          <a:xfrm>
            <a:off x="992127" y="2156590"/>
            <a:ext cx="10207746" cy="3581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General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: support in packets,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syscalls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,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kprobes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/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tracepoints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,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uprobes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,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tc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/XDP, LSM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ea typeface="SF싸락눈" panose="02000503000000000000" pitchFamily="2" charset="-127"/>
              </a:rPr>
              <a:t>Safe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: strong verifier (bounds, pointer checks, control-flow, bounded loops)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ea typeface="SF싸락눈" panose="02000503000000000000" pitchFamily="2" charset="-127"/>
              </a:rPr>
              <a:t>Fast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: JIT-compiled, runs close to the event source (low overhead/latency)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ea typeface="SF싸락눈" panose="02000503000000000000" pitchFamily="2" charset="-127"/>
              </a:rPr>
              <a:t>Practical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: small programs in C, reusable maps (shared/persistent state), helpers (safe kernel APIs)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ea typeface="SF싸락눈" panose="02000503000000000000" pitchFamily="2" charset="-127"/>
              </a:rPr>
              <a:t>Dynamic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: load/unload at runtime, no kernel rebuild/reboot</a:t>
            </a:r>
          </a:p>
        </p:txBody>
      </p:sp>
    </p:spTree>
    <p:extLst>
      <p:ext uri="{BB962C8B-B14F-4D97-AF65-F5344CB8AC3E}">
        <p14:creationId xmlns:p14="http://schemas.microsoft.com/office/powerpoint/2010/main" val="2373631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36EA9-3BE9-9F73-DE8E-455853AF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62B7CD-642B-1E2C-EC1E-75C40D1BC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88" r="126"/>
          <a:stretch>
            <a:fillRect/>
          </a:stretch>
        </p:blipFill>
        <p:spPr>
          <a:xfrm>
            <a:off x="2828433" y="1917256"/>
            <a:ext cx="6535134" cy="4050459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85236D4-F049-08CD-8091-4E649EF83E58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C911BC-20BD-3149-21EE-B75790A56536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eBPF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: What has Improved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A50769D-F9B6-5A04-A068-5B6058460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4290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5537F-2A58-D444-4D2B-DFD383D9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7F1895-1949-D51E-0DAA-6EBFF37FE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46" t="9752" r="40357" b="5560"/>
          <a:stretch>
            <a:fillRect/>
          </a:stretch>
        </p:blipFill>
        <p:spPr>
          <a:xfrm>
            <a:off x="9864091" y="945670"/>
            <a:ext cx="1668780" cy="274059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21EF5D2-F53B-2937-48C2-5CE593226354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45CE4F1-E854-D191-5BCC-37A8A851C593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eBPF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: What has Improved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0471056-F5FD-03BC-1D8A-821DC3E9D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8C8AA44-06FD-C39B-7A68-F1230E51A7BF}"/>
              </a:ext>
            </a:extLst>
          </p:cNvPr>
          <p:cNvSpPr txBox="1"/>
          <p:nvPr/>
        </p:nvSpPr>
        <p:spPr>
          <a:xfrm>
            <a:off x="769499" y="1936928"/>
            <a:ext cx="8934572" cy="3956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64-bit ISA</a:t>
            </a:r>
            <a:r>
              <a:rPr lang="en-US" altLang="ko-KR" sz="2000" dirty="0">
                <a:ea typeface="SF싸락눈" panose="02000503000000000000" pitchFamily="2" charset="-127"/>
              </a:rPr>
              <a:t>:</a:t>
            </a:r>
            <a:r>
              <a:rPr lang="en-US" altLang="ko-KR" sz="20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 </a:t>
            </a:r>
            <a:r>
              <a:rPr lang="en-US" altLang="ko-KR" sz="20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eBPF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 instructions operate on 64-bit values. That makes pointer math and counters natural on 64-bit kernels.</a:t>
            </a:r>
          </a:p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Registers</a:t>
            </a:r>
            <a:endParaRPr lang="en-US" altLang="ko-KR" sz="20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  <a:p>
            <a:pPr marL="727075" lvl="1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R0</a:t>
            </a:r>
            <a:r>
              <a:rPr lang="en-US" altLang="ko-KR" dirty="0">
                <a:latin typeface="SF싸락눈" panose="02000503000000000000" pitchFamily="2" charset="-127"/>
                <a:ea typeface="SF싸락눈" panose="02000503000000000000" pitchFamily="2" charset="-127"/>
              </a:rPr>
              <a:t> = return value register (what your program returns to the hook).</a:t>
            </a:r>
          </a:p>
          <a:p>
            <a:pPr marL="727075" lvl="1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R1-R5</a:t>
            </a:r>
            <a:r>
              <a:rPr lang="en-US" altLang="ko-KR" dirty="0">
                <a:latin typeface="SF싸락눈" panose="02000503000000000000" pitchFamily="2" charset="-127"/>
                <a:ea typeface="SF싸락눈" panose="02000503000000000000" pitchFamily="2" charset="-127"/>
              </a:rPr>
              <a:t> = arguments when you call a helper (e.g., map update needs key/value pointers).</a:t>
            </a:r>
          </a:p>
          <a:p>
            <a:pPr marL="727075" lvl="1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R6-R9</a:t>
            </a:r>
            <a:r>
              <a:rPr lang="en-US" altLang="ko-KR" dirty="0">
                <a:latin typeface="SF싸락눈" panose="02000503000000000000" pitchFamily="2" charset="-127"/>
                <a:ea typeface="SF싸락눈" panose="02000503000000000000" pitchFamily="2" charset="-127"/>
              </a:rPr>
              <a:t> = callee-saved temporaries (can keep values across helper calls).</a:t>
            </a:r>
          </a:p>
          <a:p>
            <a:pPr marL="727075" lvl="1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R10</a:t>
            </a:r>
            <a:r>
              <a:rPr lang="en-US" altLang="ko-KR" dirty="0">
                <a:latin typeface="SF싸락눈" panose="02000503000000000000" pitchFamily="2" charset="-127"/>
                <a:ea typeface="SF싸락눈" panose="02000503000000000000" pitchFamily="2" charset="-127"/>
              </a:rPr>
              <a:t> = frame pointer for the stack (address the stack as R10 - offset).</a:t>
            </a:r>
          </a:p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ea typeface="SF싸락눈" panose="02000503000000000000" pitchFamily="2" charset="-127"/>
              </a:rPr>
              <a:t>Stack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: 512Byte stack per call</a:t>
            </a:r>
            <a:endParaRPr lang="en-US" altLang="ko-KR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pic>
        <p:nvPicPr>
          <p:cNvPr id="2" name="그림 1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50649D-05C1-D3E6-8B54-7E539F6FF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70" t="15031" r="19213" b="10639"/>
          <a:stretch>
            <a:fillRect/>
          </a:stretch>
        </p:blipFill>
        <p:spPr>
          <a:xfrm>
            <a:off x="9864091" y="3915418"/>
            <a:ext cx="1885949" cy="24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171E4-A853-F79A-E74C-3FBE3E048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77DB30-9288-A628-6D88-085CAEA91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31" t="11753" r="108" b="3559"/>
          <a:stretch>
            <a:fillRect/>
          </a:stretch>
        </p:blipFill>
        <p:spPr>
          <a:xfrm>
            <a:off x="10195560" y="2058702"/>
            <a:ext cx="1737359" cy="274059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2DAFAF0D-80CC-35F7-2FA0-6F5E83959C32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6054EB-5028-EA14-619B-4DA640937B9E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eBPF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: What has Improved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497A980-DB79-07D2-0F47-FDC174B98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A5737F9-95F8-75B7-B219-7CE1CCD6080B}"/>
              </a:ext>
            </a:extLst>
          </p:cNvPr>
          <p:cNvSpPr txBox="1"/>
          <p:nvPr/>
        </p:nvSpPr>
        <p:spPr>
          <a:xfrm>
            <a:off x="753624" y="1742618"/>
            <a:ext cx="8934572" cy="4141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Maps</a:t>
            </a:r>
            <a:r>
              <a:rPr lang="en-US" altLang="ko-KR" sz="2000" dirty="0">
                <a:ea typeface="SF싸락눈" panose="02000503000000000000" pitchFamily="2" charset="-127"/>
              </a:rPr>
              <a:t>:</a:t>
            </a:r>
            <a:r>
              <a:rPr lang="en-US" altLang="ko-KR" sz="20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 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kernel-resident key/value stores that both BPF programs and user space can access(like shared whiteboard!)</a:t>
            </a:r>
          </a:p>
          <a:p>
            <a:pPr marL="727075" lvl="1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dirty="0">
                <a:ea typeface="SF싸락눈" panose="02000503000000000000" pitchFamily="2" charset="-127"/>
              </a:rPr>
              <a:t>Give us persistent/shared state(unlike </a:t>
            </a:r>
            <a:r>
              <a:rPr lang="en-US" altLang="ko-KR" dirty="0" err="1">
                <a:ea typeface="SF싸락눈" panose="02000503000000000000" pitchFamily="2" charset="-127"/>
              </a:rPr>
              <a:t>cBPF’s</a:t>
            </a:r>
            <a:r>
              <a:rPr lang="en-US" altLang="ko-KR" dirty="0">
                <a:ea typeface="SF싸락눈" panose="02000503000000000000" pitchFamily="2" charset="-127"/>
              </a:rPr>
              <a:t> tiny scratch pad)</a:t>
            </a:r>
          </a:p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ea typeface="SF싸락눈" panose="02000503000000000000" pitchFamily="2" charset="-127"/>
              </a:rPr>
              <a:t>Map types</a:t>
            </a:r>
          </a:p>
          <a:p>
            <a:pPr marL="727075" lvl="1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1600" dirty="0">
                <a:solidFill>
                  <a:srgbClr val="C00000"/>
                </a:solidFill>
              </a:rPr>
              <a:t>hash</a:t>
            </a:r>
            <a:r>
              <a:rPr lang="en-US" altLang="ko-KR" sz="1600" dirty="0"/>
              <a:t>: general dictionary</a:t>
            </a:r>
          </a:p>
          <a:p>
            <a:pPr marL="727075" lvl="1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1600" dirty="0">
                <a:solidFill>
                  <a:srgbClr val="C00000"/>
                </a:solidFill>
              </a:rPr>
              <a:t>array</a:t>
            </a:r>
            <a:r>
              <a:rPr lang="en-US" altLang="ko-KR" sz="1600" dirty="0"/>
              <a:t>: Fixed slots by index (0..N-1)</a:t>
            </a:r>
          </a:p>
          <a:p>
            <a:pPr marL="727075" lvl="1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1600" dirty="0">
                <a:solidFill>
                  <a:srgbClr val="C00000"/>
                </a:solidFill>
              </a:rPr>
              <a:t>per-CPU hash/array</a:t>
            </a:r>
            <a:r>
              <a:rPr lang="en-US" altLang="ko-KR" sz="1600" dirty="0"/>
              <a:t>: one copy per CPU → no lock contention, sum later in user space. </a:t>
            </a:r>
          </a:p>
          <a:p>
            <a:pPr marL="727075" lvl="1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1600" dirty="0">
                <a:solidFill>
                  <a:srgbClr val="C00000"/>
                </a:solidFill>
              </a:rPr>
              <a:t>LRU hash</a:t>
            </a:r>
            <a:r>
              <a:rPr lang="en-US" altLang="ko-KR" sz="1600" dirty="0"/>
              <a:t>: automatically removes least-recent entries</a:t>
            </a:r>
          </a:p>
          <a:p>
            <a:pPr marL="727075" lvl="1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1600" dirty="0">
                <a:solidFill>
                  <a:srgbClr val="C00000"/>
                </a:solidFill>
              </a:rPr>
              <a:t>ring buffer</a:t>
            </a:r>
            <a:r>
              <a:rPr lang="en-US" altLang="ko-KR" sz="1600" dirty="0"/>
              <a:t>: one-way queue for events going to user space (high-throughput).</a:t>
            </a:r>
          </a:p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Basic operations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: lookup, update, delete.</a:t>
            </a:r>
          </a:p>
        </p:txBody>
      </p:sp>
    </p:spTree>
    <p:extLst>
      <p:ext uri="{BB962C8B-B14F-4D97-AF65-F5344CB8AC3E}">
        <p14:creationId xmlns:p14="http://schemas.microsoft.com/office/powerpoint/2010/main" val="843234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6F386-3838-4155-F865-A25C29237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E3FC0234-C038-84B9-6522-A45F9EEB77D0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948C56-45DE-4BBE-59D4-8208C46DC19E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eBPF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: What has Improved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5E7515D-B7D1-096C-CC9E-E7FDB5F2F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DCE5B07-9F5A-AB48-9A7D-0BC31115CFF8}"/>
              </a:ext>
            </a:extLst>
          </p:cNvPr>
          <p:cNvSpPr txBox="1"/>
          <p:nvPr/>
        </p:nvSpPr>
        <p:spPr>
          <a:xfrm>
            <a:off x="1009272" y="1834058"/>
            <a:ext cx="10173456" cy="4384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Various hook points</a:t>
            </a:r>
            <a:r>
              <a:rPr lang="en-US" altLang="ko-KR" sz="2000" dirty="0">
                <a:ea typeface="SF싸락눈" panose="02000503000000000000" pitchFamily="2" charset="-127"/>
              </a:rPr>
              <a:t>:</a:t>
            </a:r>
            <a:r>
              <a:rPr lang="en-US" altLang="ko-KR" sz="20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 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You can attach small, verified </a:t>
            </a:r>
            <a:r>
              <a:rPr lang="en-US" altLang="ko-KR" sz="20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eBPF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 programs at different hook points to observe or act on events with low overhead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ea typeface="SF싸락눈" panose="02000503000000000000" pitchFamily="2" charset="-127"/>
              </a:rPr>
              <a:t>Hook types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1600" dirty="0" err="1">
                <a:solidFill>
                  <a:srgbClr val="C00000"/>
                </a:solidFill>
              </a:rPr>
              <a:t>Tracepoints</a:t>
            </a:r>
            <a:r>
              <a:rPr lang="en-US" altLang="ko-KR" sz="1600" dirty="0">
                <a:solidFill>
                  <a:srgbClr val="C00000"/>
                </a:solidFill>
              </a:rPr>
              <a:t>(</a:t>
            </a:r>
            <a:r>
              <a:rPr lang="en-US" altLang="ko-KR" sz="1600" dirty="0" err="1">
                <a:solidFill>
                  <a:srgbClr val="C00000"/>
                </a:solidFill>
              </a:rPr>
              <a:t>syscalls</a:t>
            </a:r>
            <a:r>
              <a:rPr lang="en-US" altLang="ko-KR" sz="1600" dirty="0">
                <a:solidFill>
                  <a:srgbClr val="C00000"/>
                </a:solidFill>
              </a:rPr>
              <a:t>)</a:t>
            </a:r>
            <a:r>
              <a:rPr lang="en-US" altLang="ko-KR" sz="1600" dirty="0"/>
              <a:t>: Stable kernel events like </a:t>
            </a:r>
            <a:r>
              <a:rPr lang="en-US" altLang="ko-KR" sz="1600" dirty="0" err="1"/>
              <a:t>execve</a:t>
            </a:r>
            <a:endParaRPr lang="en-US" altLang="ko-KR" sz="1600" dirty="0"/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1600" dirty="0" err="1">
                <a:solidFill>
                  <a:srgbClr val="C00000"/>
                </a:solidFill>
              </a:rPr>
              <a:t>kprobes</a:t>
            </a:r>
            <a:r>
              <a:rPr lang="en-US" altLang="ko-KR" sz="1600" dirty="0">
                <a:solidFill>
                  <a:srgbClr val="C00000"/>
                </a:solidFill>
              </a:rPr>
              <a:t>/</a:t>
            </a:r>
            <a:r>
              <a:rPr lang="en-US" altLang="ko-KR" sz="1600" dirty="0" err="1">
                <a:solidFill>
                  <a:srgbClr val="C00000"/>
                </a:solidFill>
              </a:rPr>
              <a:t>kretprobes</a:t>
            </a:r>
            <a:r>
              <a:rPr lang="en-US" altLang="ko-KR" sz="1600" dirty="0"/>
              <a:t>: Dynamic hooks on kernel functions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1600" dirty="0" err="1">
                <a:solidFill>
                  <a:srgbClr val="C00000"/>
                </a:solidFill>
              </a:rPr>
              <a:t>uprobes</a:t>
            </a:r>
            <a:r>
              <a:rPr lang="en-US" altLang="ko-KR" sz="1600" dirty="0">
                <a:solidFill>
                  <a:srgbClr val="C00000"/>
                </a:solidFill>
              </a:rPr>
              <a:t>/</a:t>
            </a:r>
            <a:r>
              <a:rPr lang="en-US" altLang="ko-KR" sz="1600" dirty="0" err="1">
                <a:solidFill>
                  <a:srgbClr val="C00000"/>
                </a:solidFill>
              </a:rPr>
              <a:t>uretprobes</a:t>
            </a:r>
            <a:r>
              <a:rPr lang="en-US" altLang="ko-KR" sz="1600" dirty="0"/>
              <a:t>: Dynamic hooks on user space functions in binaries/libs 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1600" dirty="0">
                <a:solidFill>
                  <a:srgbClr val="C00000"/>
                </a:solidFill>
              </a:rPr>
              <a:t>XDP(</a:t>
            </a:r>
            <a:r>
              <a:rPr lang="en-US" altLang="ko-KR" sz="1600" dirty="0" err="1">
                <a:solidFill>
                  <a:srgbClr val="C00000"/>
                </a:solidFill>
              </a:rPr>
              <a:t>eXpress</a:t>
            </a:r>
            <a:r>
              <a:rPr lang="en-US" altLang="ko-KR" sz="1600" dirty="0">
                <a:solidFill>
                  <a:srgbClr val="C00000"/>
                </a:solidFill>
              </a:rPr>
              <a:t> Data Path)</a:t>
            </a:r>
            <a:r>
              <a:rPr lang="en-US" altLang="ko-KR" sz="1600" dirty="0"/>
              <a:t>: Earliest hook in the NIC(Network Interface Card) driver RX(Receive) path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1600" dirty="0" err="1">
                <a:solidFill>
                  <a:srgbClr val="C00000"/>
                </a:solidFill>
              </a:rPr>
              <a:t>tc</a:t>
            </a:r>
            <a:r>
              <a:rPr lang="en-US" altLang="ko-KR" sz="1600" dirty="0">
                <a:solidFill>
                  <a:srgbClr val="C00000"/>
                </a:solidFill>
              </a:rPr>
              <a:t>(traffic control)</a:t>
            </a:r>
            <a:r>
              <a:rPr lang="en-US" altLang="ko-KR" sz="1600" dirty="0"/>
              <a:t>: Ingress/egress in the network stack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1600" dirty="0">
                <a:solidFill>
                  <a:srgbClr val="C00000"/>
                </a:solidFill>
              </a:rPr>
              <a:t>Socket filter</a:t>
            </a:r>
            <a:r>
              <a:rPr lang="en-US" altLang="ko-KR" sz="1600" dirty="0"/>
              <a:t>: per-socket capture/filtering(like classic BPF)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1600" dirty="0">
                <a:solidFill>
                  <a:srgbClr val="C00000"/>
                </a:solidFill>
              </a:rPr>
              <a:t>LSM(Linux Security Module)</a:t>
            </a:r>
            <a:r>
              <a:rPr lang="en-US" altLang="ko-KR" sz="1600" dirty="0"/>
              <a:t>: Security hooks(open, connect, exec ...), lightweight auditing and allow/deny policies</a:t>
            </a:r>
          </a:p>
        </p:txBody>
      </p:sp>
    </p:spTree>
    <p:extLst>
      <p:ext uri="{BB962C8B-B14F-4D97-AF65-F5344CB8AC3E}">
        <p14:creationId xmlns:p14="http://schemas.microsoft.com/office/powerpoint/2010/main" val="1813995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D6DD5-FFC9-1CB5-9A5F-59A57ED6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C451A83-069B-128A-82DE-BCFD1597B02C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289334-133B-400E-3B77-73294C3A70F3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eBPF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: What has Improved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8EC1B64-2EAE-25CB-677F-1C4F04AF1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2050" name="Picture 2" descr="ebpf">
            <a:extLst>
              <a:ext uri="{FF2B5EF4-FFF2-40B4-BE49-F238E27FC236}">
                <a16:creationId xmlns:a16="http://schemas.microsoft.com/office/drawing/2014/main" id="{BFBD605A-EAF4-AA3B-82D6-9E6AD1698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69426"/>
            <a:ext cx="9753600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339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A1E2-2C02-F96C-E49F-36E23836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30A4D86-0AFF-8F75-332D-5AD33129C7F2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762192-2A23-913B-C8A4-B42CD58C91B0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eBPF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Architecture Overview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B2691F3-4DB6-0847-3714-B8778AC20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074" name="Picture 2" descr="What is eBPF? An Introduction and Deep Dive into the eBPF Technology">
            <a:extLst>
              <a:ext uri="{FF2B5EF4-FFF2-40B4-BE49-F238E27FC236}">
                <a16:creationId xmlns:a16="http://schemas.microsoft.com/office/drawing/2014/main" id="{20CF8310-7865-B7ED-CFD2-C63AEECCD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489" y="1854298"/>
            <a:ext cx="8847022" cy="466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152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EC42D-4AF0-F669-DB50-85633EB6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A76E3B33-579D-4764-15B1-6AA24D007C6E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03FD59-9F90-D093-F25F-9BA6DB8551FB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eBPF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Architecture Overview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1F669C6-379B-909E-6D0A-6C68DF622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074" name="Picture 2" descr="What is eBPF? An Introduction and Deep Dive into the eBPF Technology">
            <a:extLst>
              <a:ext uri="{FF2B5EF4-FFF2-40B4-BE49-F238E27FC236}">
                <a16:creationId xmlns:a16="http://schemas.microsoft.com/office/drawing/2014/main" id="{043AC8B9-DAA3-80E2-A6DA-FB45EC4F8F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665" b="63762"/>
          <a:stretch>
            <a:fillRect/>
          </a:stretch>
        </p:blipFill>
        <p:spPr bwMode="auto">
          <a:xfrm>
            <a:off x="7261758" y="1507002"/>
            <a:ext cx="4176208" cy="1883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46FD5C-2D83-55CD-391D-B33039D36963}"/>
              </a:ext>
            </a:extLst>
          </p:cNvPr>
          <p:cNvSpPr txBox="1"/>
          <p:nvPr/>
        </p:nvSpPr>
        <p:spPr>
          <a:xfrm>
            <a:off x="1009272" y="1834058"/>
            <a:ext cx="6252487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ea typeface="SF싸락눈" panose="02000503000000000000" pitchFamily="2" charset="-127"/>
              </a:rPr>
              <a:t>Development</a:t>
            </a:r>
            <a:r>
              <a:rPr lang="en-US" altLang="ko-KR" sz="2000" dirty="0">
                <a:ea typeface="SF싸락눈" panose="02000503000000000000" pitchFamily="2" charset="-127"/>
              </a:rPr>
              <a:t>:</a:t>
            </a:r>
            <a:r>
              <a:rPr lang="en-US" altLang="ko-KR" sz="20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 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You can write a C program and map definitions, compile to </a:t>
            </a:r>
            <a:r>
              <a:rPr lang="en-US" altLang="ko-KR" sz="20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eBPF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 bytecode</a:t>
            </a:r>
            <a:endParaRPr lang="en-US" altLang="ko-KR" sz="1600" dirty="0"/>
          </a:p>
        </p:txBody>
      </p:sp>
      <p:pic>
        <p:nvPicPr>
          <p:cNvPr id="3" name="Picture 2" descr="What is eBPF? An Introduction and Deep Dive into the eBPF Technology">
            <a:extLst>
              <a:ext uri="{FF2B5EF4-FFF2-40B4-BE49-F238E27FC236}">
                <a16:creationId xmlns:a16="http://schemas.microsoft.com/office/drawing/2014/main" id="{41A408DF-3BD0-8E65-0A0F-DEDADB30E1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t="18445" r="30319" b="24056"/>
          <a:stretch>
            <a:fillRect/>
          </a:stretch>
        </p:blipFill>
        <p:spPr bwMode="auto">
          <a:xfrm>
            <a:off x="7261758" y="3717369"/>
            <a:ext cx="4602827" cy="298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9CCA5B-C623-CDB7-FC05-1A86E26BE1B4}"/>
              </a:ext>
            </a:extLst>
          </p:cNvPr>
          <p:cNvSpPr txBox="1"/>
          <p:nvPr/>
        </p:nvSpPr>
        <p:spPr>
          <a:xfrm>
            <a:off x="1009271" y="4352468"/>
            <a:ext cx="6252487" cy="141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ea typeface="SF싸락눈" panose="02000503000000000000" pitchFamily="2" charset="-127"/>
              </a:rPr>
              <a:t>Loading</a:t>
            </a:r>
            <a:r>
              <a:rPr lang="en-US" altLang="ko-KR" sz="2000" dirty="0">
                <a:ea typeface="SF싸락눈" panose="02000503000000000000" pitchFamily="2" charset="-127"/>
              </a:rPr>
              <a:t>:</a:t>
            </a:r>
            <a:r>
              <a:rPr lang="en-US" altLang="ko-KR" sz="20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 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A loader(BCC, </a:t>
            </a:r>
            <a:r>
              <a:rPr lang="en-US" altLang="ko-KR" sz="20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libbpf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, Go/Rust libs, </a:t>
            </a:r>
            <a:r>
              <a:rPr lang="en-US" altLang="ko-KR" sz="20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bpftools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 etc...) calls the </a:t>
            </a:r>
            <a:r>
              <a:rPr lang="en-US" altLang="ko-KR" sz="20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bpf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() </a:t>
            </a:r>
            <a:r>
              <a:rPr lang="en-US" altLang="ko-KR" sz="20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syscall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 to create maps and load programs from the ELF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922268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24DDB-6F6A-E279-40E8-B836F907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D7984C62-AB43-F6CE-06FF-07E9B06B970E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71CFE4-043C-7F34-F6A7-3D6169340B16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eBPF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Architecture Overview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FC65462-83C3-50A5-3418-9131D8C08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074" name="Picture 2" descr="What is eBPF? An Introduction and Deep Dive into the eBPF Technology">
            <a:extLst>
              <a:ext uri="{FF2B5EF4-FFF2-40B4-BE49-F238E27FC236}">
                <a16:creationId xmlns:a16="http://schemas.microsoft.com/office/drawing/2014/main" id="{4B441584-1515-AE12-4533-24E05871D9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74" t="50329" r="56123" b="13836"/>
          <a:stretch>
            <a:fillRect/>
          </a:stretch>
        </p:blipFill>
        <p:spPr bwMode="auto">
          <a:xfrm>
            <a:off x="7600828" y="2143485"/>
            <a:ext cx="3581900" cy="257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DFA659-B879-CA1C-56F0-C5EF0288CF1C}"/>
              </a:ext>
            </a:extLst>
          </p:cNvPr>
          <p:cNvSpPr txBox="1"/>
          <p:nvPr/>
        </p:nvSpPr>
        <p:spPr>
          <a:xfrm>
            <a:off x="1009272" y="1834058"/>
            <a:ext cx="6252487" cy="141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ea typeface="SF싸락눈" panose="02000503000000000000" pitchFamily="2" charset="-127"/>
              </a:rPr>
              <a:t>Verifier</a:t>
            </a:r>
            <a:r>
              <a:rPr lang="en-US" altLang="ko-KR" sz="2000" dirty="0">
                <a:ea typeface="SF싸락눈" panose="02000503000000000000" pitchFamily="2" charset="-127"/>
              </a:rPr>
              <a:t>:</a:t>
            </a:r>
            <a:r>
              <a:rPr lang="en-US" altLang="ko-KR" sz="20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 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Like safety inspector, checks memory bounds, pointer usage, types, bounded loops, and overall control flow.</a:t>
            </a:r>
            <a:endParaRPr lang="en-US" altLang="ko-KR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A5F8A3-3D8E-3D7F-A5F1-BD083EF0F074}"/>
              </a:ext>
            </a:extLst>
          </p:cNvPr>
          <p:cNvSpPr txBox="1"/>
          <p:nvPr/>
        </p:nvSpPr>
        <p:spPr>
          <a:xfrm>
            <a:off x="1009271" y="4352468"/>
            <a:ext cx="6252487" cy="141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C00000"/>
                </a:solidFill>
                <a:ea typeface="SF싸락눈" panose="02000503000000000000" pitchFamily="2" charset="-127"/>
              </a:rPr>
              <a:t>JIT(Just-In-Time) compiler</a:t>
            </a:r>
            <a:r>
              <a:rPr lang="en-US" altLang="ko-KR" sz="2000" dirty="0">
                <a:ea typeface="SF싸락눈" panose="02000503000000000000" pitchFamily="2" charset="-127"/>
              </a:rPr>
              <a:t>:</a:t>
            </a:r>
            <a:r>
              <a:rPr lang="en-US" altLang="ko-KR" sz="20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 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Like a live translator, JIT translates BPF bytecode into native CPU instructions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189419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F7DE6-7EEC-5F14-92F7-882593F6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398DCC54-69FC-3CB4-CD81-B986ABC86B3B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9025305-FBAB-EB66-0914-87596D4DBA0E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eBPF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Architecture Overview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2FDFE15-27EF-29C7-DB5E-0556CB844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074" name="Picture 2" descr="What is eBPF? An Introduction and Deep Dive into the eBPF Technology">
            <a:extLst>
              <a:ext uri="{FF2B5EF4-FFF2-40B4-BE49-F238E27FC236}">
                <a16:creationId xmlns:a16="http://schemas.microsoft.com/office/drawing/2014/main" id="{32A22D87-2908-5433-BFF3-2ADA935B51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26" t="18220" r="4006" b="15506"/>
          <a:stretch>
            <a:fillRect/>
          </a:stretch>
        </p:blipFill>
        <p:spPr bwMode="auto">
          <a:xfrm>
            <a:off x="7612258" y="2121959"/>
            <a:ext cx="4196621" cy="3139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C03A78-F253-0649-76A6-41A06B9019B9}"/>
              </a:ext>
            </a:extLst>
          </p:cNvPr>
          <p:cNvSpPr txBox="1"/>
          <p:nvPr/>
        </p:nvSpPr>
        <p:spPr>
          <a:xfrm>
            <a:off x="917832" y="2752144"/>
            <a:ext cx="6252487" cy="1879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rgbClr val="C00000"/>
                </a:solidFill>
                <a:ea typeface="SF싸락눈" panose="02000503000000000000" pitchFamily="2" charset="-127"/>
              </a:rPr>
              <a:t>eBPF</a:t>
            </a:r>
            <a:r>
              <a:rPr lang="en-US" altLang="ko-KR" sz="2000" dirty="0">
                <a:solidFill>
                  <a:srgbClr val="C00000"/>
                </a:solidFill>
                <a:ea typeface="SF싸락눈" panose="02000503000000000000" pitchFamily="2" charset="-127"/>
              </a:rPr>
              <a:t> Maps</a:t>
            </a:r>
            <a:r>
              <a:rPr lang="en-US" altLang="ko-KR" sz="2000" dirty="0">
                <a:ea typeface="SF싸락눈" panose="02000503000000000000" pitchFamily="2" charset="-127"/>
              </a:rPr>
              <a:t>:</a:t>
            </a:r>
            <a:r>
              <a:rPr lang="en-US" altLang="ko-KR" sz="20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 </a:t>
            </a:r>
            <a:r>
              <a:rPr lang="en-US" altLang="ko-KR" sz="2000" dirty="0">
                <a:latin typeface="SF싸락눈" panose="02000503000000000000" pitchFamily="2" charset="-127"/>
                <a:ea typeface="SF싸락눈" panose="02000503000000000000" pitchFamily="2" charset="-127"/>
              </a:rPr>
              <a:t>Keep persistent/shared state across events like counters &amp; histograms, allow/deny lists, per-flow stats, last-seen timestamps, exporting events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966718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CFC11-1E07-7D57-2E10-3AB5654A8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8DA081F-25A8-1247-6368-B1F551B2F08B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086FE71-8923-86AA-4540-29C18CB45446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eBPF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Use Cases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5257F40-1550-37FC-F713-CF3E52D1E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87259E6-ADFC-250B-4B16-5CD5282D0D48}"/>
              </a:ext>
            </a:extLst>
          </p:cNvPr>
          <p:cNvSpPr txBox="1"/>
          <p:nvPr/>
        </p:nvSpPr>
        <p:spPr>
          <a:xfrm>
            <a:off x="992127" y="1780104"/>
            <a:ext cx="10207746" cy="4683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 err="1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Syscall</a:t>
            </a: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 tracing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: capture filenames, PIDs,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args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and build rate counters or latency histograms.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ea typeface="SF싸락눈" panose="02000503000000000000" pitchFamily="2" charset="-127"/>
              </a:rPr>
              <a:t>Packet filtering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: drop/redirect packet in NIC driver before the stack or per-socket filtering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Sensitive file watch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: alert on /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etc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/shadow or keys directory access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ea typeface="SF싸락눈" panose="02000503000000000000" pitchFamily="2" charset="-127"/>
              </a:rPr>
              <a:t>Process execution auditing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: log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execve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with first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args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, detect rate spikes or suspicious parents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CPU profiling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: </a:t>
            </a:r>
            <a:r>
              <a:rPr lang="en-US" altLang="ko-KR" sz="2400" dirty="0"/>
              <a:t>time in run queue, off-CPU time, stack traces for hot paths</a:t>
            </a: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7172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C6444-BB59-9FC5-B6A7-05BC1855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3FC9F5-1F8C-622C-2B97-A1DB2C81A07E}"/>
              </a:ext>
            </a:extLst>
          </p:cNvPr>
          <p:cNvSpPr txBox="1"/>
          <p:nvPr/>
        </p:nvSpPr>
        <p:spPr>
          <a:xfrm>
            <a:off x="4822323" y="3124493"/>
            <a:ext cx="2547364" cy="609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Lab</a:t>
            </a:r>
            <a:r>
              <a:rPr lang="ko-KR" altLang="en-US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 </a:t>
            </a: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146336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279E-4B23-50A8-B34E-D917545BB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5EE0B4E-0C1A-9C4C-1C8E-215DD09D664D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5B76F4-B0FD-6A52-7EA4-CDD43EB871F2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Lab Overview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8DE0C6E-579E-B537-FEC4-8F7BD9855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962A5CF-334C-AE29-606C-E3D7D8C900BD}"/>
              </a:ext>
            </a:extLst>
          </p:cNvPr>
          <p:cNvSpPr txBox="1"/>
          <p:nvPr/>
        </p:nvSpPr>
        <p:spPr>
          <a:xfrm>
            <a:off x="992127" y="2033646"/>
            <a:ext cx="10207746" cy="3581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ea typeface="SF싸락눈" panose="02000503000000000000" pitchFamily="2" charset="-127"/>
              </a:rPr>
              <a:t>Learn to perform simple, rapid kernel event tracing using </a:t>
            </a:r>
            <a:r>
              <a:rPr lang="en-US" altLang="ko-KR" sz="2200" dirty="0" err="1">
                <a:ea typeface="SF싸락눈" panose="02000503000000000000" pitchFamily="2" charset="-127"/>
              </a:rPr>
              <a:t>bpftrace</a:t>
            </a:r>
            <a:r>
              <a:rPr lang="en-US" altLang="ko-KR" sz="2200" dirty="0">
                <a:ea typeface="SF싸락눈" panose="02000503000000000000" pitchFamily="2" charset="-127"/>
              </a:rPr>
              <a:t>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ea typeface="SF싸락눈" panose="02000503000000000000" pitchFamily="2" charset="-127"/>
              </a:rPr>
              <a:t>Utilize different </a:t>
            </a:r>
            <a:r>
              <a:rPr lang="en-US" altLang="ko-KR" sz="2200" dirty="0" err="1">
                <a:ea typeface="SF싸락눈" panose="02000503000000000000" pitchFamily="2" charset="-127"/>
              </a:rPr>
              <a:t>eBPF</a:t>
            </a:r>
            <a:r>
              <a:rPr lang="en-US" altLang="ko-KR" sz="2200" dirty="0">
                <a:ea typeface="SF싸락눈" panose="02000503000000000000" pitchFamily="2" charset="-127"/>
              </a:rPr>
              <a:t> hook points: </a:t>
            </a:r>
            <a:r>
              <a:rPr lang="en-US" altLang="ko-KR" sz="2200" dirty="0" err="1">
                <a:ea typeface="SF싸락눈" panose="02000503000000000000" pitchFamily="2" charset="-127"/>
              </a:rPr>
              <a:t>kprobes</a:t>
            </a:r>
            <a:r>
              <a:rPr lang="en-US" altLang="ko-KR" sz="2200" dirty="0">
                <a:ea typeface="SF싸락눈" panose="02000503000000000000" pitchFamily="2" charset="-127"/>
              </a:rPr>
              <a:t>, </a:t>
            </a:r>
            <a:r>
              <a:rPr lang="en-US" altLang="ko-KR" sz="2200" dirty="0" err="1">
                <a:ea typeface="SF싸락눈" panose="02000503000000000000" pitchFamily="2" charset="-127"/>
              </a:rPr>
              <a:t>tracepoints</a:t>
            </a:r>
            <a:r>
              <a:rPr lang="en-US" altLang="ko-KR" sz="2200" dirty="0">
                <a:ea typeface="SF싸락눈" panose="02000503000000000000" pitchFamily="2" charset="-127"/>
              </a:rPr>
              <a:t>, and the XDP.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ea typeface="SF싸락눈" panose="02000503000000000000" pitchFamily="2" charset="-127"/>
              </a:rPr>
              <a:t>Understand how to develop and load advanced </a:t>
            </a:r>
            <a:r>
              <a:rPr lang="en-US" altLang="ko-KR" sz="2200" dirty="0" err="1">
                <a:ea typeface="SF싸락눈" panose="02000503000000000000" pitchFamily="2" charset="-127"/>
              </a:rPr>
              <a:t>eBPF</a:t>
            </a:r>
            <a:r>
              <a:rPr lang="en-US" altLang="ko-KR" sz="2200" dirty="0">
                <a:ea typeface="SF싸락눈" panose="02000503000000000000" pitchFamily="2" charset="-127"/>
              </a:rPr>
              <a:t> programs using C and Python.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ea typeface="SF싸락눈" panose="02000503000000000000" pitchFamily="2" charset="-127"/>
              </a:rPr>
              <a:t>Learn to pass custom data from the kernel to user-space using </a:t>
            </a:r>
            <a:r>
              <a:rPr lang="en-US" altLang="ko-KR" sz="2200" dirty="0" err="1">
                <a:ea typeface="SF싸락눈" panose="02000503000000000000" pitchFamily="2" charset="-127"/>
              </a:rPr>
              <a:t>eBPF</a:t>
            </a:r>
            <a:r>
              <a:rPr lang="en-US" altLang="ko-KR" sz="2200" dirty="0">
                <a:ea typeface="SF싸락눈" panose="02000503000000000000" pitchFamily="2" charset="-127"/>
              </a:rPr>
              <a:t> maps.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ea typeface="SF싸락눈" panose="02000503000000000000" pitchFamily="2" charset="-127"/>
              </a:rPr>
              <a:t>Apply </a:t>
            </a:r>
            <a:r>
              <a:rPr lang="en-US" altLang="ko-KR" sz="2200" dirty="0" err="1">
                <a:ea typeface="SF싸락눈" panose="02000503000000000000" pitchFamily="2" charset="-127"/>
              </a:rPr>
              <a:t>eBPF</a:t>
            </a:r>
            <a:r>
              <a:rPr lang="en-US" altLang="ko-KR" sz="2200" dirty="0">
                <a:ea typeface="SF싸락눈" panose="02000503000000000000" pitchFamily="2" charset="-127"/>
              </a:rPr>
              <a:t> for practical system monitoring/security (file access) and networking (packet modification).</a:t>
            </a:r>
          </a:p>
        </p:txBody>
      </p:sp>
    </p:spTree>
    <p:extLst>
      <p:ext uri="{BB962C8B-B14F-4D97-AF65-F5344CB8AC3E}">
        <p14:creationId xmlns:p14="http://schemas.microsoft.com/office/powerpoint/2010/main" val="3251274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4A9EB-6C7A-5C64-55B1-5BDB390A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A011B1-C5DA-9B5B-7A85-09D4B3FEF7FE}"/>
              </a:ext>
            </a:extLst>
          </p:cNvPr>
          <p:cNvSpPr txBox="1"/>
          <p:nvPr/>
        </p:nvSpPr>
        <p:spPr>
          <a:xfrm>
            <a:off x="3967376" y="3124493"/>
            <a:ext cx="4257256" cy="609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Lab Environment Setup</a:t>
            </a:r>
          </a:p>
        </p:txBody>
      </p:sp>
    </p:spTree>
    <p:extLst>
      <p:ext uri="{BB962C8B-B14F-4D97-AF65-F5344CB8AC3E}">
        <p14:creationId xmlns:p14="http://schemas.microsoft.com/office/powerpoint/2010/main" val="1364969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E0E44-C13B-7E82-2AAB-0EFE858CE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8E7BEE74-DA95-AE68-D60D-3207E7EACA1C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563885-9D53-2CE7-890B-0725B06BDB3D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Lab</a:t>
              </a:r>
              <a:r>
                <a:rPr lang="ko-KR" altLang="en-US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</a:t>
              </a:r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Envrionment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Setup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600ED22-838C-63CE-DB2C-CEADC7D7F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D76BD92-2171-5E55-5D22-72FBC468A2BA}"/>
              </a:ext>
            </a:extLst>
          </p:cNvPr>
          <p:cNvSpPr txBox="1"/>
          <p:nvPr/>
        </p:nvSpPr>
        <p:spPr>
          <a:xfrm>
            <a:off x="1063912" y="1938381"/>
            <a:ext cx="10064176" cy="4187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Let’s setup the development environment first.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We’ll conduct the lab assuming </a:t>
            </a:r>
            <a:r>
              <a:rPr lang="en-US" altLang="ko-KR" sz="2000" dirty="0">
                <a:highlight>
                  <a:srgbClr val="FFFF00"/>
                </a:highlight>
              </a:rPr>
              <a:t>Ubuntu 22.04.5 LTS</a:t>
            </a:r>
            <a:r>
              <a:rPr lang="en-US" altLang="ko-KR" sz="2000" dirty="0"/>
              <a:t> is installed..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First, update your package lists and upgrade all packages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s-E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sudo apt update &amp;&amp; sudo apt upgrade -y 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Next, install the following packages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sudo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apt install -y clang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llvm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libelf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-dev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gcc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make \</a:t>
            </a:r>
            <a:b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</a:b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	iproute2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iputils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-ping git curl build-essential \ </a:t>
            </a:r>
            <a:b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</a:b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	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linux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-headers-$(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uname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-r)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cmake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cmake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-data pkg-config python3-distutils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sudo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apt install -y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bpfcc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-tools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libbpfcc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-dev python3-bpfcc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bpftrace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vim</a:t>
            </a:r>
          </a:p>
        </p:txBody>
      </p:sp>
    </p:spTree>
    <p:extLst>
      <p:ext uri="{BB962C8B-B14F-4D97-AF65-F5344CB8AC3E}">
        <p14:creationId xmlns:p14="http://schemas.microsoft.com/office/powerpoint/2010/main" val="2848424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CB34D-398E-B1E8-A167-C4C45B546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BF6EE33-0EA1-5C9C-BFA9-090B14413107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AA7CD0-C76D-955C-0721-92D5E4333B1C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/>
                <a:t>Note: What each library does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F7216BD-FB06-8A1E-F384-C29679A1D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BBB5701-57B5-52D2-912B-37647BF228D6}"/>
              </a:ext>
            </a:extLst>
          </p:cNvPr>
          <p:cNvSpPr txBox="1"/>
          <p:nvPr/>
        </p:nvSpPr>
        <p:spPr>
          <a:xfrm>
            <a:off x="1063912" y="1642944"/>
            <a:ext cx="10064176" cy="4649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FF0000"/>
                </a:solidFill>
              </a:rPr>
              <a:t>clang, </a:t>
            </a:r>
            <a:r>
              <a:rPr lang="en-US" altLang="ko-KR" sz="2000" dirty="0" err="1">
                <a:solidFill>
                  <a:srgbClr val="FF0000"/>
                </a:solidFill>
              </a:rPr>
              <a:t>llvm</a:t>
            </a:r>
            <a:r>
              <a:rPr lang="en-US" altLang="ko-KR" sz="2000" dirty="0"/>
              <a:t>: Compiler and toolchain used to compile </a:t>
            </a:r>
            <a:r>
              <a:rPr lang="en-US" altLang="ko-KR" sz="2000" dirty="0" err="1"/>
              <a:t>eBPF</a:t>
            </a:r>
            <a:r>
              <a:rPr lang="en-US" altLang="ko-KR" sz="2000" dirty="0"/>
              <a:t> programs into BPF bytecode (ELF objects).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rgbClr val="FF0000"/>
                </a:solidFill>
              </a:rPr>
              <a:t>libelf</a:t>
            </a:r>
            <a:r>
              <a:rPr lang="en-US" altLang="ko-KR" sz="2000" dirty="0">
                <a:solidFill>
                  <a:srgbClr val="FF0000"/>
                </a:solidFill>
              </a:rPr>
              <a:t>-dev</a:t>
            </a:r>
            <a:r>
              <a:rPr lang="en-US" altLang="ko-KR" sz="2000" dirty="0"/>
              <a:t>: Development library for the ELF file format; required by tools (e.g., </a:t>
            </a:r>
            <a:r>
              <a:rPr lang="en-US" altLang="ko-KR" sz="2000" dirty="0" err="1"/>
              <a:t>libbpf</a:t>
            </a:r>
            <a:r>
              <a:rPr lang="en-US" altLang="ko-KR" sz="2000" dirty="0"/>
              <a:t>) to read ELF objects and load </a:t>
            </a:r>
            <a:r>
              <a:rPr lang="en-US" altLang="ko-KR" sz="2000" dirty="0" err="1"/>
              <a:t>eBPF</a:t>
            </a:r>
            <a:r>
              <a:rPr lang="en-US" altLang="ko-KR" sz="2000" dirty="0"/>
              <a:t> programs into the kernel.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FF0000"/>
                </a:solidFill>
              </a:rPr>
              <a:t>iproute2, </a:t>
            </a:r>
            <a:r>
              <a:rPr lang="en-US" altLang="ko-KR" sz="2000" dirty="0" err="1">
                <a:solidFill>
                  <a:srgbClr val="FF0000"/>
                </a:solidFill>
              </a:rPr>
              <a:t>iputils</a:t>
            </a:r>
            <a:r>
              <a:rPr lang="en-US" altLang="ko-KR" sz="2000" dirty="0">
                <a:solidFill>
                  <a:srgbClr val="FF0000"/>
                </a:solidFill>
              </a:rPr>
              <a:t>-ping</a:t>
            </a:r>
            <a:r>
              <a:rPr lang="en-US" altLang="ko-KR" sz="2000" dirty="0"/>
              <a:t>: Networking utilities for configuration, connectivity checks, and traffic experiments.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rgbClr val="FF0000"/>
                </a:solidFill>
              </a:rPr>
              <a:t>cmake</a:t>
            </a:r>
            <a:r>
              <a:rPr lang="en-US" altLang="ko-KR" sz="2000" dirty="0">
                <a:solidFill>
                  <a:srgbClr val="FF0000"/>
                </a:solidFill>
              </a:rPr>
              <a:t>, </a:t>
            </a:r>
            <a:r>
              <a:rPr lang="en-US" altLang="ko-KR" sz="2000" dirty="0" err="1">
                <a:solidFill>
                  <a:srgbClr val="FF0000"/>
                </a:solidFill>
              </a:rPr>
              <a:t>cmake</a:t>
            </a:r>
            <a:r>
              <a:rPr lang="en-US" altLang="ko-KR" sz="2000" dirty="0">
                <a:solidFill>
                  <a:srgbClr val="FF0000"/>
                </a:solidFill>
              </a:rPr>
              <a:t>-data, pkg-config</a:t>
            </a:r>
            <a:r>
              <a:rPr lang="en-US" altLang="ko-KR" sz="2000" dirty="0"/>
              <a:t>: Build automation and dependency discovery for various source packages 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rgbClr val="FF0000"/>
                </a:solidFill>
              </a:rPr>
              <a:t>linux</a:t>
            </a:r>
            <a:r>
              <a:rPr lang="en-US" altLang="ko-KR" sz="2000" dirty="0">
                <a:solidFill>
                  <a:srgbClr val="FF0000"/>
                </a:solidFill>
              </a:rPr>
              <a:t>-headers-$(</a:t>
            </a:r>
            <a:r>
              <a:rPr lang="en-US" altLang="ko-KR" sz="2000" dirty="0" err="1">
                <a:solidFill>
                  <a:srgbClr val="FF0000"/>
                </a:solidFill>
              </a:rPr>
              <a:t>uname</a:t>
            </a:r>
            <a:r>
              <a:rPr lang="en-US" altLang="ko-KR" sz="2000" dirty="0">
                <a:solidFill>
                  <a:srgbClr val="FF0000"/>
                </a:solidFill>
              </a:rPr>
              <a:t> -r)</a:t>
            </a:r>
            <a:r>
              <a:rPr lang="en-US" altLang="ko-KR" sz="2000" dirty="0"/>
              <a:t>: Header files for the currently running kernel; needed to build kernel modules and useful for some </a:t>
            </a:r>
            <a:r>
              <a:rPr lang="en-US" altLang="ko-KR" sz="2000" dirty="0" err="1"/>
              <a:t>eBPF</a:t>
            </a:r>
            <a:r>
              <a:rPr lang="en-US" altLang="ko-KR" sz="2000" dirty="0"/>
              <a:t> build workflows.</a:t>
            </a:r>
          </a:p>
        </p:txBody>
      </p:sp>
    </p:spTree>
    <p:extLst>
      <p:ext uri="{BB962C8B-B14F-4D97-AF65-F5344CB8AC3E}">
        <p14:creationId xmlns:p14="http://schemas.microsoft.com/office/powerpoint/2010/main" val="1016174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EF027-FC0C-1AEC-C6B0-F8DAD045D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12B7301-E333-16C1-6752-149C9ECFD664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C054693-A04E-84B7-F0A8-E127CFB4BF47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/>
                <a:t>Note: What each library does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DEEA8E4-B266-806B-D3EB-D6284703B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30044DF-237C-6349-F487-890A3794668B}"/>
              </a:ext>
            </a:extLst>
          </p:cNvPr>
          <p:cNvSpPr txBox="1"/>
          <p:nvPr/>
        </p:nvSpPr>
        <p:spPr>
          <a:xfrm>
            <a:off x="1063912" y="1642944"/>
            <a:ext cx="10064176" cy="4649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FF0000"/>
                </a:solidFill>
              </a:rPr>
              <a:t>python3-distutils</a:t>
            </a:r>
            <a:r>
              <a:rPr lang="en-US" altLang="ko-KR" sz="2000" dirty="0"/>
              <a:t>: Packaging/build utilities required by some Python-based tools (e.g., parts of BCC) for installation and execution.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rgbClr val="FF0000"/>
                </a:solidFill>
              </a:rPr>
              <a:t>bpfcc</a:t>
            </a:r>
            <a:r>
              <a:rPr lang="en-US" altLang="ko-KR" sz="2000" dirty="0">
                <a:solidFill>
                  <a:srgbClr val="FF0000"/>
                </a:solidFill>
              </a:rPr>
              <a:t>-tools</a:t>
            </a:r>
            <a:r>
              <a:rPr lang="en-US" altLang="ko-KR" sz="2000" dirty="0"/>
              <a:t>: BCC/</a:t>
            </a:r>
            <a:r>
              <a:rPr lang="en-US" altLang="ko-KR" sz="2000" dirty="0" err="1"/>
              <a:t>eBPF</a:t>
            </a:r>
            <a:r>
              <a:rPr lang="en-US" altLang="ko-KR" sz="2000" dirty="0"/>
              <a:t> command line tools for quick tracing and performance troubleshooting without writing code.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rgbClr val="FF0000"/>
                </a:solidFill>
              </a:rPr>
              <a:t>libbpfcc</a:t>
            </a:r>
            <a:r>
              <a:rPr lang="en-US" altLang="ko-KR" sz="2000" dirty="0">
                <a:solidFill>
                  <a:srgbClr val="FF0000"/>
                </a:solidFill>
              </a:rPr>
              <a:t>-dev</a:t>
            </a:r>
            <a:r>
              <a:rPr lang="en-US" altLang="ko-KR" sz="2000" dirty="0"/>
              <a:t>: Development headers and libraries for </a:t>
            </a:r>
            <a:r>
              <a:rPr lang="en-US" altLang="ko-KR" sz="2000" dirty="0" err="1"/>
              <a:t>libccc</a:t>
            </a:r>
            <a:r>
              <a:rPr lang="en-US" altLang="ko-KR" sz="2000" dirty="0"/>
              <a:t> used to build BCC-based applications; includes headers and pkg-config metadata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FF0000"/>
                </a:solidFill>
              </a:rPr>
              <a:t>python3-bpfcc</a:t>
            </a:r>
            <a:r>
              <a:rPr lang="en-US" altLang="ko-KR" sz="2000" dirty="0"/>
              <a:t>: Python 3 bindings for BCC (the bcc module), enabling you to write </a:t>
            </a:r>
            <a:r>
              <a:rPr lang="en-US" altLang="ko-KR" sz="2000" dirty="0" err="1"/>
              <a:t>eBPF</a:t>
            </a:r>
            <a:r>
              <a:rPr lang="en-US" altLang="ko-KR" sz="2000" dirty="0"/>
              <a:t> tools in Python.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rgbClr val="FF0000"/>
                </a:solidFill>
              </a:rPr>
              <a:t>bpftrace</a:t>
            </a:r>
            <a:r>
              <a:rPr lang="en-US" altLang="ko-KR" sz="2000" dirty="0"/>
              <a:t>: A high-level tracing language and runtime for </a:t>
            </a:r>
            <a:r>
              <a:rPr lang="en-US" altLang="ko-KR" sz="2000" dirty="0" err="1"/>
              <a:t>eBPF</a:t>
            </a:r>
            <a:r>
              <a:rPr lang="en-US" altLang="ko-KR" sz="2000" dirty="0"/>
              <a:t> that supports one-liners and scripts over </a:t>
            </a:r>
            <a:r>
              <a:rPr lang="en-US" altLang="ko-KR" sz="2000" dirty="0" err="1"/>
              <a:t>kprobes</a:t>
            </a:r>
            <a:r>
              <a:rPr lang="en-US" altLang="ko-KR" sz="2000" dirty="0"/>
              <a:t>/</a:t>
            </a:r>
            <a:r>
              <a:rPr lang="en-US" altLang="ko-KR" sz="2000" dirty="0" err="1"/>
              <a:t>uprobes</a:t>
            </a:r>
            <a:r>
              <a:rPr lang="en-US" altLang="ko-KR" sz="2000" dirty="0"/>
              <a:t>/</a:t>
            </a:r>
            <a:r>
              <a:rPr lang="en-US" altLang="ko-KR" sz="2000" dirty="0" err="1"/>
              <a:t>tracepoints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49301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74478-F4E2-1A02-C756-3C85C0CDF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BA8A0FC8-03F4-8B6D-5394-34FC7BA95002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483357C-EB37-815B-8520-47F7E8FFAA9A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/>
                <a:t>Useful commands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A82F241-2A2C-F538-93D2-105F88F16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2B93776-5865-BEC2-D702-F33D92D75636}"/>
              </a:ext>
            </a:extLst>
          </p:cNvPr>
          <p:cNvSpPr txBox="1"/>
          <p:nvPr/>
        </p:nvSpPr>
        <p:spPr>
          <a:xfrm>
            <a:off x="1063912" y="2694504"/>
            <a:ext cx="10064176" cy="280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rgbClr val="FF0000"/>
                </a:solidFill>
              </a:rPr>
              <a:t>sudo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 err="1">
                <a:solidFill>
                  <a:srgbClr val="FF0000"/>
                </a:solidFill>
              </a:rPr>
              <a:t>bpftool</a:t>
            </a:r>
            <a:r>
              <a:rPr lang="en-US" altLang="ko-KR" sz="2000" dirty="0">
                <a:solidFill>
                  <a:srgbClr val="FF0000"/>
                </a:solidFill>
              </a:rPr>
              <a:t> prog list</a:t>
            </a:r>
            <a:r>
              <a:rPr lang="en-US" altLang="ko-KR" sz="2000" dirty="0"/>
              <a:t>: List all </a:t>
            </a:r>
            <a:r>
              <a:rPr lang="en-US" altLang="ko-KR" sz="2000" dirty="0" err="1"/>
              <a:t>eBPF</a:t>
            </a:r>
            <a:r>
              <a:rPr lang="en-US" altLang="ko-KR" sz="2000" dirty="0"/>
              <a:t> programs currently loaded in the kernel</a:t>
            </a:r>
            <a:endParaRPr lang="ko-KR" altLang="en-US" sz="2000" dirty="0"/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rgbClr val="FF0000"/>
                </a:solidFill>
              </a:rPr>
              <a:t>sudo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 err="1">
                <a:solidFill>
                  <a:srgbClr val="FF0000"/>
                </a:solidFill>
              </a:rPr>
              <a:t>bpftool</a:t>
            </a:r>
            <a:r>
              <a:rPr lang="en-US" altLang="ko-KR" sz="2000" dirty="0">
                <a:solidFill>
                  <a:srgbClr val="FF0000"/>
                </a:solidFill>
              </a:rPr>
              <a:t> map list</a:t>
            </a:r>
            <a:r>
              <a:rPr lang="en-US" altLang="ko-KR" sz="2000" dirty="0"/>
              <a:t>:  List all </a:t>
            </a:r>
            <a:r>
              <a:rPr lang="en-US" altLang="ko-KR" sz="2000" dirty="0" err="1"/>
              <a:t>eBPF</a:t>
            </a:r>
            <a:r>
              <a:rPr lang="en-US" altLang="ko-KR" sz="2000" dirty="0"/>
              <a:t> maps</a:t>
            </a:r>
            <a:endParaRPr lang="ko-KR" altLang="en-US" sz="2000" dirty="0"/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rgbClr val="FF0000"/>
                </a:solidFill>
              </a:rPr>
              <a:t>sudo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 err="1">
                <a:solidFill>
                  <a:srgbClr val="FF0000"/>
                </a:solidFill>
              </a:rPr>
              <a:t>bpftool</a:t>
            </a:r>
            <a:r>
              <a:rPr lang="en-US" altLang="ko-KR" sz="2000" dirty="0">
                <a:solidFill>
                  <a:srgbClr val="FF0000"/>
                </a:solidFill>
              </a:rPr>
              <a:t> feature probe</a:t>
            </a:r>
            <a:r>
              <a:rPr lang="en-US" altLang="ko-KR" sz="2000" dirty="0"/>
              <a:t>: Check which </a:t>
            </a:r>
            <a:r>
              <a:rPr lang="en-US" altLang="ko-KR" sz="2000" dirty="0" err="1"/>
              <a:t>eBPF</a:t>
            </a:r>
            <a:r>
              <a:rPr lang="en-US" altLang="ko-KR" sz="2000" dirty="0"/>
              <a:t> features your kernel and tooling support.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rgbClr val="FF0000"/>
                </a:solidFill>
              </a:rPr>
              <a:t>sudo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 err="1">
                <a:solidFill>
                  <a:srgbClr val="FF0000"/>
                </a:solidFill>
              </a:rPr>
              <a:t>bpftool</a:t>
            </a:r>
            <a:r>
              <a:rPr lang="en-US" altLang="ko-KR" sz="2000" dirty="0">
                <a:solidFill>
                  <a:srgbClr val="FF0000"/>
                </a:solidFill>
              </a:rPr>
              <a:t> prog show id &lt;ID&gt;</a:t>
            </a:r>
            <a:r>
              <a:rPr lang="en-US" altLang="ko-KR" sz="2000" dirty="0"/>
              <a:t>: Show details (type, attach point, map refs) for a specific program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5246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1DE67-E18F-5F5F-317E-485E35DD2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9B93BB-14B8-9C9A-C445-6FDC0310DAE2}"/>
              </a:ext>
            </a:extLst>
          </p:cNvPr>
          <p:cNvSpPr txBox="1"/>
          <p:nvPr/>
        </p:nvSpPr>
        <p:spPr>
          <a:xfrm>
            <a:off x="4717583" y="3124493"/>
            <a:ext cx="2756845" cy="609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Basic Exercise1</a:t>
            </a:r>
          </a:p>
        </p:txBody>
      </p:sp>
    </p:spTree>
    <p:extLst>
      <p:ext uri="{BB962C8B-B14F-4D97-AF65-F5344CB8AC3E}">
        <p14:creationId xmlns:p14="http://schemas.microsoft.com/office/powerpoint/2010/main" val="956190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356D4-917B-BEDE-B67C-AEA3D94A2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BD6AA819-F474-2A4D-C0FE-61A679C999BD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4DB9F1-93EF-F678-E81A-E8E9CBA9023F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Basic Exercise1: </a:t>
              </a:r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kprobe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usage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74E1E26-DF31-F24E-EB9C-C5B748D34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4526373-F1BF-20D8-E108-DD32BFD514A9}"/>
              </a:ext>
            </a:extLst>
          </p:cNvPr>
          <p:cNvSpPr txBox="1"/>
          <p:nvPr/>
        </p:nvSpPr>
        <p:spPr>
          <a:xfrm>
            <a:off x="1445834" y="1755501"/>
            <a:ext cx="9732706" cy="280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Let’s monitor the execution of kernel functions! 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You can find kernel functions available for use with </a:t>
            </a:r>
            <a:r>
              <a:rPr lang="en-US" altLang="ko-KR" sz="2000" dirty="0" err="1"/>
              <a:t>kprobe</a:t>
            </a:r>
            <a:r>
              <a:rPr lang="en-US" altLang="ko-KR" sz="2000" dirty="0"/>
              <a:t> using the command below.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sudo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cat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/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sys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kernel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debug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tracing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available_filter_functions</a:t>
            </a:r>
            <a:endParaRPr lang="en-US" altLang="ko-KR" sz="36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In this example, we use </a:t>
            </a:r>
            <a:r>
              <a:rPr lang="en-US" altLang="ko-KR" sz="2000" dirty="0" err="1"/>
              <a:t>vfs_read</a:t>
            </a:r>
            <a:r>
              <a:rPr lang="en-US" altLang="ko-KR" sz="2000" dirty="0"/>
              <a:t>, which is invoked whenever a file is read in the Linux file system.</a:t>
            </a:r>
            <a:endParaRPr lang="en-US" altLang="ko-KR" sz="2000" dirty="0"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8A45F-DDE0-FD11-28E6-2032AB56AEC0}"/>
              </a:ext>
            </a:extLst>
          </p:cNvPr>
          <p:cNvSpPr txBox="1"/>
          <p:nvPr/>
        </p:nvSpPr>
        <p:spPr>
          <a:xfrm>
            <a:off x="832107" y="6046886"/>
            <a:ext cx="10527786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269875" algn="l"/>
              </a:tabLst>
            </a:pPr>
            <a:r>
              <a:rPr lang="en-US" altLang="ko-KR" sz="1400" dirty="0"/>
              <a:t>※ </a:t>
            </a:r>
            <a:r>
              <a:rPr lang="en-US" altLang="ko-KR" sz="1400" dirty="0" err="1"/>
              <a:t>vfs</a:t>
            </a:r>
            <a:r>
              <a:rPr lang="en-US" altLang="ko-KR" sz="1400" dirty="0"/>
              <a:t> stands for “virtual file system”</a:t>
            </a:r>
          </a:p>
          <a:p>
            <a:pPr>
              <a:lnSpc>
                <a:spcPct val="150000"/>
              </a:lnSpc>
              <a:tabLst>
                <a:tab pos="269875" algn="l"/>
              </a:tabLst>
            </a:pPr>
            <a:r>
              <a:rPr lang="en-US" altLang="ko-KR" sz="1400" dirty="0"/>
              <a:t>※ You can find the source code here </a:t>
            </a:r>
            <a:r>
              <a:rPr lang="en-US" altLang="ko-KR" sz="1400" dirty="0">
                <a:hlinkClick r:id="rId5"/>
              </a:rPr>
              <a:t>https://elixir.bootlin.com/linux/v6.16.4/source</a:t>
            </a: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723E4A-1BD8-EE25-3636-11A99D00F3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440" y="4670878"/>
            <a:ext cx="9993120" cy="4858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0379DF-B6F4-A26C-B2FE-AD7DD62752F8}"/>
              </a:ext>
            </a:extLst>
          </p:cNvPr>
          <p:cNvSpPr txBox="1"/>
          <p:nvPr/>
        </p:nvSpPr>
        <p:spPr>
          <a:xfrm>
            <a:off x="1685100" y="5217653"/>
            <a:ext cx="8821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/>
              <a:t>The result of grep -</a:t>
            </a:r>
            <a:r>
              <a:rPr lang="en-US" altLang="ko-KR" sz="1600" b="1" dirty="0" err="1"/>
              <a:t>Rnw</a:t>
            </a:r>
            <a:r>
              <a:rPr lang="en-US" altLang="ko-KR" sz="1600" b="1" dirty="0"/>
              <a:t> /</a:t>
            </a:r>
            <a:r>
              <a:rPr lang="en-US" altLang="ko-KR" sz="1600" b="1" dirty="0" err="1"/>
              <a:t>usr</a:t>
            </a:r>
            <a:r>
              <a:rPr lang="en-US" altLang="ko-KR" sz="1600" b="1" dirty="0"/>
              <a:t>/</a:t>
            </a:r>
            <a:r>
              <a:rPr lang="en-US" altLang="ko-KR" sz="1600" b="1" dirty="0" err="1"/>
              <a:t>src</a:t>
            </a:r>
            <a:r>
              <a:rPr lang="en-US" altLang="ko-KR" sz="1600" b="1" dirty="0"/>
              <a:t>/</a:t>
            </a:r>
            <a:r>
              <a:rPr lang="en-US" altLang="ko-KR" sz="1600" b="1" dirty="0" err="1"/>
              <a:t>linux</a:t>
            </a:r>
            <a:r>
              <a:rPr lang="en-US" altLang="ko-KR" sz="1600" b="1" dirty="0"/>
              <a:t>-headers-$(</a:t>
            </a:r>
            <a:r>
              <a:rPr lang="en-US" altLang="ko-KR" sz="1600" b="1" dirty="0" err="1"/>
              <a:t>uname</a:t>
            </a:r>
            <a:r>
              <a:rPr lang="en-US" altLang="ko-KR" sz="1600" b="1" dirty="0"/>
              <a:t> -r) -e '</a:t>
            </a:r>
            <a:r>
              <a:rPr lang="en-US" altLang="ko-KR" sz="1600" b="1" dirty="0" err="1"/>
              <a:t>vfs_read</a:t>
            </a:r>
            <a:r>
              <a:rPr lang="en-US" altLang="ko-KR" sz="1600" b="1" dirty="0"/>
              <a:t>'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642249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B11F9-7462-D1F2-8815-DED29E0B9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B02FB105-3803-8BC0-5E5A-36DECCE552EF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37A478-CAE4-B7E0-CDFD-8F6405F5B78C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Basic Exercise1: </a:t>
              </a:r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kprobe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usage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FDB5E8C-75A5-4EC7-D387-B0B10C250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7A610E-E168-F409-D8A5-FD679F69BB46}"/>
              </a:ext>
            </a:extLst>
          </p:cNvPr>
          <p:cNvSpPr txBox="1"/>
          <p:nvPr/>
        </p:nvSpPr>
        <p:spPr>
          <a:xfrm>
            <a:off x="1229647" y="1755501"/>
            <a:ext cx="9732706" cy="234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If you want to trace the execution of </a:t>
            </a:r>
            <a:r>
              <a:rPr lang="en-US" altLang="ko-KR" sz="2000" dirty="0" err="1"/>
              <a:t>vfs_read</a:t>
            </a:r>
            <a:r>
              <a:rPr lang="en-US" altLang="ko-KR" sz="2000" dirty="0"/>
              <a:t>, use the command below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sudo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bpftrace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-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e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'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kprobe:vfs_read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{ 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printf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("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read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called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\</a:t>
            </a:r>
            <a:r>
              <a:rPr lang="ko-KR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n</a:t>
            </a:r>
            <a:r>
              <a:rPr lang="ko-KR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"); }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’</a:t>
            </a:r>
            <a:endParaRPr lang="ko-KR" altLang="ko-KR" sz="36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The -e option lets you run a one-liner </a:t>
            </a:r>
            <a:r>
              <a:rPr lang="en-US" altLang="ko-KR" sz="2000" dirty="0" err="1"/>
              <a:t>bpftrace</a:t>
            </a:r>
            <a:r>
              <a:rPr lang="en-US" altLang="ko-KR" sz="2000" dirty="0"/>
              <a:t> program for quick tracing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latin typeface="맑은 고딕" panose="020B0503020000020004" pitchFamily="50" charset="-127"/>
              </a:rPr>
              <a:t>R</a:t>
            </a:r>
            <a:r>
              <a:rPr lang="ko-KR" altLang="ko-KR" sz="2000" dirty="0" err="1">
                <a:latin typeface="맑은 고딕" panose="020B0503020000020004" pitchFamily="50" charset="-127"/>
              </a:rPr>
              <a:t>unning</a:t>
            </a:r>
            <a:r>
              <a:rPr lang="ko-KR" altLang="ko-KR" sz="2000" dirty="0">
                <a:latin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</a:rPr>
              <a:t>the</a:t>
            </a:r>
            <a:r>
              <a:rPr lang="ko-KR" altLang="ko-KR" sz="2000" dirty="0">
                <a:latin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</a:rPr>
              <a:t>command</a:t>
            </a:r>
            <a:r>
              <a:rPr lang="ko-KR" altLang="ko-KR" sz="2000" dirty="0">
                <a:latin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</a:rPr>
              <a:t>will</a:t>
            </a:r>
            <a:r>
              <a:rPr lang="ko-KR" altLang="ko-KR" sz="2000" dirty="0">
                <a:latin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</a:rPr>
              <a:t>produce</a:t>
            </a:r>
            <a:r>
              <a:rPr lang="ko-KR" altLang="ko-KR" sz="2000" dirty="0">
                <a:latin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</a:rPr>
              <a:t>numerous</a:t>
            </a:r>
            <a:r>
              <a:rPr lang="ko-KR" altLang="ko-KR" sz="2000" dirty="0">
                <a:latin typeface="맑은 고딕" panose="020B0503020000020004" pitchFamily="50" charset="-127"/>
              </a:rPr>
              <a:t> “</a:t>
            </a:r>
            <a:r>
              <a:rPr lang="ko-KR" altLang="ko-KR" sz="2000" dirty="0" err="1">
                <a:latin typeface="맑은 고딕" panose="020B0503020000020004" pitchFamily="50" charset="-127"/>
              </a:rPr>
              <a:t>read</a:t>
            </a:r>
            <a:r>
              <a:rPr lang="ko-KR" altLang="ko-KR" sz="2000" dirty="0">
                <a:latin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</a:rPr>
              <a:t>called</a:t>
            </a:r>
            <a:r>
              <a:rPr lang="ko-KR" altLang="ko-KR" sz="2000" dirty="0">
                <a:latin typeface="맑은 고딕" panose="020B0503020000020004" pitchFamily="50" charset="-127"/>
              </a:rPr>
              <a:t>” </a:t>
            </a:r>
            <a:r>
              <a:rPr lang="ko-KR" altLang="ko-KR" sz="2000" dirty="0" err="1">
                <a:latin typeface="맑은 고딕" panose="020B0503020000020004" pitchFamily="50" charset="-127"/>
              </a:rPr>
              <a:t>outputs</a:t>
            </a:r>
            <a:r>
              <a:rPr lang="ko-KR" altLang="ko-KR" sz="2000" dirty="0">
                <a:latin typeface="맑은 고딕" panose="020B0503020000020004" pitchFamily="50" charset="-127"/>
              </a:rPr>
              <a:t>, </a:t>
            </a:r>
            <a:r>
              <a:rPr lang="ko-KR" altLang="ko-KR" sz="2000" dirty="0" err="1">
                <a:latin typeface="맑은 고딕" panose="020B0503020000020004" pitchFamily="50" charset="-127"/>
              </a:rPr>
              <a:t>which</a:t>
            </a:r>
            <a:r>
              <a:rPr lang="ko-KR" altLang="ko-KR" sz="2000" dirty="0">
                <a:latin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</a:rPr>
              <a:t>is</a:t>
            </a:r>
            <a:r>
              <a:rPr lang="ko-KR" altLang="ko-KR" sz="2000" dirty="0">
                <a:latin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</a:rPr>
              <a:t>expected</a:t>
            </a:r>
            <a:r>
              <a:rPr lang="ko-KR" altLang="ko-KR" sz="2000" dirty="0">
                <a:latin typeface="맑은 고딕" panose="020B0503020000020004" pitchFamily="50" charset="-127"/>
              </a:rPr>
              <a:t> </a:t>
            </a:r>
            <a:r>
              <a:rPr lang="ko-KR" altLang="ko-KR" sz="2000" dirty="0" err="1">
                <a:latin typeface="맑은 고딕" panose="020B0503020000020004" pitchFamily="50" charset="-127"/>
              </a:rPr>
              <a:t>behavior</a:t>
            </a:r>
            <a:r>
              <a:rPr lang="ko-KR" altLang="ko-KR" sz="2000" dirty="0">
                <a:latin typeface="맑은 고딕" panose="020B0503020000020004" pitchFamily="50" charset="-127"/>
              </a:rPr>
              <a:t>.</a:t>
            </a:r>
            <a:endParaRPr lang="ko-KR" altLang="ko-KR" sz="3600" dirty="0">
              <a:latin typeface="Arial" panose="020B0604020202020204" pitchFamily="34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0C8599A-BC54-5722-4B30-5ADE87D4BD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787" y="4672928"/>
            <a:ext cx="3772426" cy="15527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15CB34-F6F9-7B30-70DD-4734FF8403A8}"/>
              </a:ext>
            </a:extLst>
          </p:cNvPr>
          <p:cNvSpPr txBox="1"/>
          <p:nvPr/>
        </p:nvSpPr>
        <p:spPr>
          <a:xfrm>
            <a:off x="1685100" y="6338277"/>
            <a:ext cx="8821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/>
              <a:t>Result of running </a:t>
            </a:r>
            <a:r>
              <a:rPr lang="en-US" altLang="ko-KR" sz="1600" b="1" dirty="0" err="1"/>
              <a:t>sudo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bpftrace</a:t>
            </a:r>
            <a:r>
              <a:rPr lang="en-US" altLang="ko-KR" sz="1600" b="1" dirty="0"/>
              <a:t> -e '</a:t>
            </a:r>
            <a:r>
              <a:rPr lang="en-US" altLang="ko-KR" sz="1600" b="1" dirty="0" err="1"/>
              <a:t>kprobe:vfs_read</a:t>
            </a:r>
            <a:r>
              <a:rPr lang="en-US" altLang="ko-KR" sz="1600" b="1" dirty="0"/>
              <a:t> { </a:t>
            </a:r>
            <a:r>
              <a:rPr lang="en-US" altLang="ko-KR" sz="1600" b="1" dirty="0" err="1"/>
              <a:t>printf</a:t>
            </a:r>
            <a:r>
              <a:rPr lang="en-US" altLang="ko-KR" sz="1600" b="1" dirty="0"/>
              <a:t>("read called\n"); }’</a:t>
            </a:r>
          </a:p>
        </p:txBody>
      </p:sp>
    </p:spTree>
    <p:extLst>
      <p:ext uri="{BB962C8B-B14F-4D97-AF65-F5344CB8AC3E}">
        <p14:creationId xmlns:p14="http://schemas.microsoft.com/office/powerpoint/2010/main" val="1697821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CF54A-0EB2-659F-B49D-CD70240D2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4B4F6F-2813-7989-724C-B5069D5A8A3E}"/>
              </a:ext>
            </a:extLst>
          </p:cNvPr>
          <p:cNvSpPr txBox="1"/>
          <p:nvPr/>
        </p:nvSpPr>
        <p:spPr>
          <a:xfrm>
            <a:off x="4717583" y="3124493"/>
            <a:ext cx="2756845" cy="609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Basic Exercise2</a:t>
            </a:r>
          </a:p>
        </p:txBody>
      </p:sp>
    </p:spTree>
    <p:extLst>
      <p:ext uri="{BB962C8B-B14F-4D97-AF65-F5344CB8AC3E}">
        <p14:creationId xmlns:p14="http://schemas.microsoft.com/office/powerpoint/2010/main" val="2844830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B1E6-3EE3-80AB-B8A6-C249447C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AE415F05-4D50-1A2E-4A2C-8412BE33A60D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04A571C-D7FA-CE97-A190-DC36201E4149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Basic Exercise2: </a:t>
              </a:r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tracepoint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usage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E833F63-9383-59F6-6390-D5FB79CE5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45462BB-E013-3408-3226-970B0687F7C0}"/>
              </a:ext>
            </a:extLst>
          </p:cNvPr>
          <p:cNvSpPr txBox="1"/>
          <p:nvPr/>
        </p:nvSpPr>
        <p:spPr>
          <a:xfrm>
            <a:off x="1468694" y="1986334"/>
            <a:ext cx="9254612" cy="2341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Now, let’s take a look at monitoring system calls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You can list available </a:t>
            </a:r>
            <a:r>
              <a:rPr lang="en-US" altLang="ko-KR" sz="2000" dirty="0" err="1"/>
              <a:t>syscall</a:t>
            </a:r>
            <a:r>
              <a:rPr lang="en-US" altLang="ko-KR" sz="2000" dirty="0"/>
              <a:t> </a:t>
            </a:r>
            <a:r>
              <a:rPr lang="en-US" altLang="ko-KR" sz="2000" dirty="0" err="1"/>
              <a:t>tracepoints</a:t>
            </a:r>
            <a:r>
              <a:rPr lang="en-US" altLang="ko-KR" sz="2000" dirty="0"/>
              <a:t> by command below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sudo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bpftrace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-l '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tracepoint:syscalls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:*’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latin typeface="맑은 고딕" panose="020B0503020000020004" pitchFamily="50" charset="-127"/>
              </a:rPr>
              <a:t>This time we use </a:t>
            </a:r>
            <a:r>
              <a:rPr lang="en-US" altLang="ko-KR" sz="2000" dirty="0" err="1">
                <a:latin typeface="맑은 고딕" panose="020B0503020000020004" pitchFamily="50" charset="-127"/>
              </a:rPr>
              <a:t>sys_enter_execve</a:t>
            </a:r>
            <a:r>
              <a:rPr lang="en-US" altLang="ko-KR" sz="2000" dirty="0">
                <a:latin typeface="맑은 고딕" panose="020B0503020000020004" pitchFamily="50" charset="-127"/>
              </a:rPr>
              <a:t>, </a:t>
            </a:r>
            <a:r>
              <a:rPr lang="en-US" altLang="ko-KR" sz="2000" dirty="0"/>
              <a:t>which triggers on entry to the </a:t>
            </a:r>
            <a:r>
              <a:rPr lang="en-US" altLang="ko-KR" sz="2000" dirty="0" err="1"/>
              <a:t>execve</a:t>
            </a:r>
            <a:r>
              <a:rPr lang="en-US" altLang="ko-KR" sz="2000" dirty="0"/>
              <a:t> </a:t>
            </a:r>
            <a:r>
              <a:rPr lang="en-US" altLang="ko-KR" sz="2000" dirty="0" err="1"/>
              <a:t>syscall</a:t>
            </a:r>
            <a:endParaRPr lang="en-US" altLang="ko-KR" sz="2000" dirty="0">
              <a:latin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3B10BD8-CFD5-3C38-E359-8728D478C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6629" y="4454556"/>
            <a:ext cx="4898739" cy="13856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E14DCB-E8A3-11BA-F94B-4BD63D0A9080}"/>
              </a:ext>
            </a:extLst>
          </p:cNvPr>
          <p:cNvSpPr txBox="1"/>
          <p:nvPr/>
        </p:nvSpPr>
        <p:spPr>
          <a:xfrm>
            <a:off x="1685099" y="5967236"/>
            <a:ext cx="8821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/>
              <a:t>The result of </a:t>
            </a:r>
            <a:r>
              <a:rPr lang="en-US" altLang="ko-KR" sz="1600" b="1" dirty="0" err="1"/>
              <a:t>sudo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bpftrace</a:t>
            </a:r>
            <a:r>
              <a:rPr lang="en-US" altLang="ko-KR" sz="1600" b="1" dirty="0"/>
              <a:t> -lv '</a:t>
            </a:r>
            <a:r>
              <a:rPr lang="en-US" altLang="ko-KR" sz="1600" b="1" dirty="0" err="1"/>
              <a:t>tracepoint:syscalls:sys_enter_execve</a:t>
            </a:r>
            <a:r>
              <a:rPr lang="en-US" altLang="ko-KR" sz="1600" b="1" dirty="0"/>
              <a:t>'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68944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91FC6-A362-405A-83F6-1FBBD3863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EFE284A-B425-3115-7589-2301BC6A6F7D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435B3B-1EE5-C4B6-C984-AFBD471CF0DC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Basic Exercise2: </a:t>
              </a:r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tracepoint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usage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BCBC55A-7C7E-B907-91C5-19B14F80A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EA4CA5F-F0F9-534E-62F5-AE7F42BD34B5}"/>
              </a:ext>
            </a:extLst>
          </p:cNvPr>
          <p:cNvSpPr txBox="1"/>
          <p:nvPr/>
        </p:nvSpPr>
        <p:spPr>
          <a:xfrm>
            <a:off x="1445834" y="1755501"/>
            <a:ext cx="9732706" cy="958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You can find </a:t>
            </a:r>
            <a:r>
              <a:rPr lang="en-US" altLang="ko-KR" sz="2000" dirty="0" err="1"/>
              <a:t>execve</a:t>
            </a:r>
            <a:r>
              <a:rPr lang="en-US" altLang="ko-KR" sz="2000" dirty="0"/>
              <a:t> man page by command below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man 2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execve</a:t>
            </a:r>
            <a:endParaRPr lang="en-US" altLang="ko-KR" sz="2000" dirty="0">
              <a:solidFill>
                <a:schemeClr val="accent2">
                  <a:lumMod val="50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993DD-C959-5D7D-1F23-A9FC06EDD433}"/>
              </a:ext>
            </a:extLst>
          </p:cNvPr>
          <p:cNvSpPr txBox="1"/>
          <p:nvPr/>
        </p:nvSpPr>
        <p:spPr>
          <a:xfrm>
            <a:off x="1685100" y="5983463"/>
            <a:ext cx="8821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/>
              <a:t>The result of man 2 </a:t>
            </a:r>
            <a:r>
              <a:rPr lang="en-US" altLang="ko-KR" sz="1600" b="1" dirty="0" err="1"/>
              <a:t>execve</a:t>
            </a:r>
            <a:endParaRPr lang="ko-KR" altLang="en-US" sz="1600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C2F8F89-EE0A-2337-5ED9-5BBA55B6A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9077" y="2877865"/>
            <a:ext cx="6133846" cy="294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69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74AE4-A54F-EB4F-8D5F-97FBCB27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56F5CAA9-805B-8FFC-221C-501C764024A9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C67259-1BA3-534C-B62A-D58382244282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Basic Exercise2: </a:t>
              </a:r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tracepoint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usage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0A049C4-94A2-95D9-68A9-2EE87F6A0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AB293AE-35B7-F33E-A036-68D8CA009A3E}"/>
              </a:ext>
            </a:extLst>
          </p:cNvPr>
          <p:cNvSpPr txBox="1"/>
          <p:nvPr/>
        </p:nvSpPr>
        <p:spPr>
          <a:xfrm>
            <a:off x="1229647" y="1927528"/>
            <a:ext cx="9732706" cy="326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To trace the </a:t>
            </a:r>
            <a:r>
              <a:rPr lang="en-US" altLang="ko-KR" sz="2000" dirty="0" err="1"/>
              <a:t>execve</a:t>
            </a:r>
            <a:r>
              <a:rPr lang="en-US" altLang="ko-KR" sz="2000" dirty="0"/>
              <a:t> system call, use the command below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</a:rPr>
              <a:t>sudo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</a:rPr>
              <a:t>bpftrace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 -e '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</a:rPr>
              <a:t>tracepoint:syscalls:sys_enter_execve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 {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</a:rPr>
              <a:t>printf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("exec: comm=%s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</a:rPr>
              <a:t>pid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=%d file=%s\n", comm,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</a:rPr>
              <a:t>pid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, str(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</a:rPr>
              <a:t>args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-&gt;filename)); }’ 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rgbClr val="FF0000"/>
                </a:solidFill>
              </a:rPr>
              <a:t>comm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and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 err="1">
                <a:solidFill>
                  <a:srgbClr val="FF0000"/>
                </a:solidFill>
              </a:rPr>
              <a:t>pid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are built-in variables provided by </a:t>
            </a:r>
            <a:r>
              <a:rPr lang="en-US" altLang="ko-KR" sz="2000" dirty="0" err="1">
                <a:solidFill>
                  <a:srgbClr val="FF0000"/>
                </a:solidFill>
              </a:rPr>
              <a:t>bpftrace</a:t>
            </a:r>
            <a:r>
              <a:rPr lang="en-US" altLang="ko-KR" sz="2000" dirty="0">
                <a:solidFill>
                  <a:srgbClr val="FF0000"/>
                </a:solidFill>
              </a:rPr>
              <a:t> (please check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man</a:t>
            </a:r>
            <a:r>
              <a:rPr lang="ko-KR" altLang="en-US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</a:rPr>
              <a:t>bpftrace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filename is taken from the </a:t>
            </a:r>
            <a:r>
              <a:rPr lang="en-US" altLang="ko-KR" sz="2000" dirty="0" err="1"/>
              <a:t>sys_enter_execve</a:t>
            </a:r>
            <a:r>
              <a:rPr lang="en-US" altLang="ko-KR" sz="2000" dirty="0"/>
              <a:t> arguments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After attaching the </a:t>
            </a:r>
            <a:r>
              <a:rPr lang="en-US" altLang="ko-KR" sz="2000" dirty="0" err="1"/>
              <a:t>tracepoint</a:t>
            </a:r>
            <a:r>
              <a:rPr lang="en-US" altLang="ko-KR" sz="2000" dirty="0"/>
              <a:t>, open another terminal to observe the output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52E0CB-442B-8D76-1496-A6E556851D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098" y="5365805"/>
            <a:ext cx="10059804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65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D2252-523A-E59A-68BF-D23B41C5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9D7D0F4-B13B-C3B8-319A-77BECDCD3FE9}"/>
              </a:ext>
            </a:extLst>
          </p:cNvPr>
          <p:cNvGrpSpPr/>
          <p:nvPr/>
        </p:nvGrpSpPr>
        <p:grpSpPr>
          <a:xfrm>
            <a:off x="164064" y="1119724"/>
            <a:ext cx="6545345" cy="523220"/>
            <a:chOff x="164064" y="1119724"/>
            <a:chExt cx="654534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FA2340-F62A-4D3F-EE99-8CE66BF9B16C}"/>
                </a:ext>
              </a:extLst>
            </p:cNvPr>
            <p:cNvSpPr txBox="1"/>
            <p:nvPr/>
          </p:nvSpPr>
          <p:spPr>
            <a:xfrm>
              <a:off x="769498" y="1119724"/>
              <a:ext cx="59399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Basic Exercise2: </a:t>
              </a:r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tracepoint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usage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40A5990-89F3-502E-41A5-B9FF718BC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35D25D2-DCC7-EC88-D9EA-CADDA569D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677" y="2109547"/>
            <a:ext cx="10002646" cy="34390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283C2D-8286-7AFD-4EB0-60D39AB0806C}"/>
              </a:ext>
            </a:extLst>
          </p:cNvPr>
          <p:cNvSpPr txBox="1"/>
          <p:nvPr/>
        </p:nvSpPr>
        <p:spPr>
          <a:xfrm>
            <a:off x="1685100" y="5845878"/>
            <a:ext cx="8821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/>
              <a:t>The result after opening a terminal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354108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AC677-5FF9-CE2F-1FA5-3691B4190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70548A-32A1-ED25-AC8C-41C868B1168B}"/>
              </a:ext>
            </a:extLst>
          </p:cNvPr>
          <p:cNvSpPr txBox="1"/>
          <p:nvPr/>
        </p:nvSpPr>
        <p:spPr>
          <a:xfrm>
            <a:off x="4298946" y="3124493"/>
            <a:ext cx="3594125" cy="609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Advanced Exercise1</a:t>
            </a:r>
          </a:p>
        </p:txBody>
      </p:sp>
    </p:spTree>
    <p:extLst>
      <p:ext uri="{BB962C8B-B14F-4D97-AF65-F5344CB8AC3E}">
        <p14:creationId xmlns:p14="http://schemas.microsoft.com/office/powerpoint/2010/main" val="1341851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D48EE-7260-3A1E-7EE0-AD7DAB46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D5D46D0C-4B45-4EE7-A534-2ABD30AF1AFF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03FF7D-5929-FD0D-C7A3-492F8BFD6BBC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A9121DF-7EA2-4A24-83F7-DC4FAC54A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606B473-8597-6FB6-5490-E2F9BC89A6A6}"/>
              </a:ext>
            </a:extLst>
          </p:cNvPr>
          <p:cNvSpPr txBox="1"/>
          <p:nvPr/>
        </p:nvSpPr>
        <p:spPr>
          <a:xfrm>
            <a:off x="1468694" y="2195039"/>
            <a:ext cx="9254612" cy="3726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Let’s build a program-using C and Python-that detects and alerts on access to sensitive files.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We’ll push event records into a </a:t>
            </a:r>
            <a:r>
              <a:rPr lang="en-US" altLang="ko-KR" sz="2000" dirty="0">
                <a:solidFill>
                  <a:srgbClr val="FF0000"/>
                </a:solidFill>
              </a:rPr>
              <a:t>per-CPU ring buffer</a:t>
            </a:r>
            <a:r>
              <a:rPr lang="en-US" altLang="ko-KR" sz="2000" dirty="0"/>
              <a:t> (one of the </a:t>
            </a:r>
            <a:r>
              <a:rPr lang="en-US" altLang="ko-KR" sz="2000" dirty="0" err="1"/>
              <a:t>eBPF</a:t>
            </a:r>
            <a:r>
              <a:rPr lang="en-US" altLang="ko-KR" sz="2000" dirty="0"/>
              <a:t> map types mentioned on the previous slide) 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The Python code will read those events, determine what happened, and perform follow-up actions such as generating alerts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latin typeface="맑은 고딕" panose="020B0503020000020004" pitchFamily="50" charset="-127"/>
              </a:rPr>
              <a:t>You can find detailed information at the link below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ko-KR" altLang="en-US" sz="2000" dirty="0">
                <a:hlinkClick r:id="rId5"/>
              </a:rPr>
              <a:t>https://eunomia.dev/tutorials/bcc-documents/reference_guide_en/</a:t>
            </a:r>
            <a:endParaRPr lang="en-US" altLang="ko-KR" sz="20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1644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7B472-A9CB-69E4-8108-FDAEA0600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340581-CB2D-8F6E-D63C-12B65CBAB7E4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F322A0-3EBD-C389-2EEF-533EB212CCDF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BD2183A-07FB-C96B-631C-0B691FADA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1E4E95B-381D-648F-8AE6-FDE27B8CA2D7}"/>
              </a:ext>
            </a:extLst>
          </p:cNvPr>
          <p:cNvSpPr txBox="1"/>
          <p:nvPr/>
        </p:nvSpPr>
        <p:spPr>
          <a:xfrm>
            <a:off x="1468694" y="1794989"/>
            <a:ext cx="9254612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First, we need to write c code to detect event!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We’ll use </a:t>
            </a:r>
            <a:r>
              <a:rPr lang="en-US" altLang="ko-KR" sz="2000" dirty="0" err="1">
                <a:solidFill>
                  <a:srgbClr val="FF0000"/>
                </a:solidFill>
              </a:rPr>
              <a:t>sys_enter_openat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 err="1">
                <a:solidFill>
                  <a:srgbClr val="FF0000"/>
                </a:solidFill>
              </a:rPr>
              <a:t>tracepoint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/>
              <a:t>which fires whenever a process calls the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 err="1">
                <a:solidFill>
                  <a:srgbClr val="FF0000"/>
                </a:solidFill>
              </a:rPr>
              <a:t>openat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/>
              <a:t>system call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You can find detailed information about </a:t>
            </a:r>
            <a:r>
              <a:rPr lang="en-US" altLang="ko-KR" sz="2000" dirty="0" err="1">
                <a:solidFill>
                  <a:srgbClr val="FF0000"/>
                </a:solidFill>
              </a:rPr>
              <a:t>openat</a:t>
            </a:r>
            <a:r>
              <a:rPr lang="en-US" altLang="ko-KR" sz="2000" dirty="0"/>
              <a:t> with the command below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man 2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</a:rPr>
              <a:t>openat</a:t>
            </a:r>
            <a:endParaRPr lang="en-US" altLang="ko-KR" sz="2000" dirty="0">
              <a:solidFill>
                <a:schemeClr val="accent2">
                  <a:lumMod val="50000"/>
                </a:schemeClr>
              </a:solidFill>
            </a:endParaRP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latin typeface="맑은 고딕" panose="020B0503020000020004" pitchFamily="50" charset="-127"/>
              </a:rPr>
              <a:t>Note: Difference between </a:t>
            </a:r>
            <a:r>
              <a:rPr lang="en-US" altLang="ko-KR" sz="200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openat</a:t>
            </a:r>
            <a:r>
              <a:rPr lang="en-US" altLang="ko-KR" sz="2000" dirty="0">
                <a:latin typeface="맑은 고딕" panose="020B0503020000020004" pitchFamily="50" charset="-127"/>
              </a:rPr>
              <a:t> and </a:t>
            </a:r>
            <a:r>
              <a:rPr lang="en-US" altLang="ko-KR" sz="200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execve</a:t>
            </a:r>
            <a:endParaRPr lang="en-US" altLang="ko-KR" sz="2000" dirty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openat</a:t>
            </a:r>
            <a:r>
              <a:rPr lang="en-US" altLang="ko-KR" sz="2000" dirty="0">
                <a:latin typeface="맑은 고딕" panose="020B0503020000020004" pitchFamily="50" charset="-127"/>
              </a:rPr>
              <a:t>: </a:t>
            </a:r>
            <a:r>
              <a:rPr lang="en-US" altLang="ko-KR" sz="2000" dirty="0"/>
              <a:t>Opens a file and returns a file descriptor (requires appropriate read/write permissions, depending on the flags)</a:t>
            </a:r>
          </a:p>
          <a:p>
            <a:pPr marL="727075" lvl="1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execve</a:t>
            </a:r>
            <a:r>
              <a:rPr lang="en-US" altLang="ko-KR" sz="2000" dirty="0">
                <a:latin typeface="맑은 고딕" panose="020B0503020000020004" pitchFamily="50" charset="-127"/>
              </a:rPr>
              <a:t>: </a:t>
            </a:r>
            <a:r>
              <a:rPr lang="en-US" altLang="ko-KR" sz="2000" dirty="0"/>
              <a:t>Replaces the current process with a new program (requires execute permission on the target file)</a:t>
            </a:r>
            <a:endParaRPr lang="en-US" altLang="ko-KR" sz="20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7169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1922-9770-13E3-BAC9-89E0872DB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3255362-470D-D4A1-E9AE-A1F81452BE5B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FF9B00-433B-27AF-4017-DE271B034A5A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725EBD3-07E0-63B3-5A02-8235AC077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35A7B93-D619-CD25-EA3D-7229F157B9CD}"/>
              </a:ext>
            </a:extLst>
          </p:cNvPr>
          <p:cNvSpPr txBox="1"/>
          <p:nvPr/>
        </p:nvSpPr>
        <p:spPr>
          <a:xfrm>
            <a:off x="822899" y="1780104"/>
            <a:ext cx="10546202" cy="427809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uapi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linux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ptrace.h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linux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sched.h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Event payload we define to send to user space.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 This is NOT a kernel-provided struct; it's our custom payload format.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 It will be delivered to user space as-is via a perf(per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cpu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ring buffer (map).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*/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file_event_t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u32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        </a:t>
            </a:r>
            <a:b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using (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bpf_get_current_pid_tgid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 &gt;&gt; 32) yields TGID (process ID).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u32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        </a:t>
            </a:r>
            <a:b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Caller’s UID. We use the lower 32 bits of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bpf_get_current_uid_gid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[TASK_COMM_LEN];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Current task's command name. Up to 16 bytes (including NUL).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</a:t>
            </a:r>
            <a:b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File path passed to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openat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(read from user memory).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D3086-B0A0-ED95-D68E-AF5EF8B9C7E6}"/>
              </a:ext>
            </a:extLst>
          </p:cNvPr>
          <p:cNvSpPr txBox="1"/>
          <p:nvPr/>
        </p:nvSpPr>
        <p:spPr>
          <a:xfrm>
            <a:off x="832107" y="6058198"/>
            <a:ext cx="10527786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269875" algn="l"/>
              </a:tabLst>
            </a:pPr>
            <a:r>
              <a:rPr lang="en-US" altLang="ko-KR" sz="1400" dirty="0"/>
              <a:t>※  As a reminder, you can find detailed information about every function we used here: </a:t>
            </a:r>
            <a:br>
              <a:rPr lang="en-US" altLang="ko-KR" sz="1400" dirty="0"/>
            </a:br>
            <a:r>
              <a:rPr lang="en-US" altLang="ko-KR" sz="1400" dirty="0">
                <a:hlinkClick r:id="rId4"/>
              </a:rPr>
              <a:t>https://eunomia.dev/tutorials/bcc-documents/reference_guide_en/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838384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15C31-D7B9-5BE5-C56D-A33D090B2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3478AC81-DA59-F384-E34A-FFB90EB72334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94333DD-4711-D11D-72F1-ADCD7ADC9537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5B449BB-06CF-949C-88BC-AB0659C83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2D554C6-DAA2-0DA4-3773-2BF40BE69437}"/>
              </a:ext>
            </a:extLst>
          </p:cNvPr>
          <p:cNvSpPr txBox="1"/>
          <p:nvPr/>
        </p:nvSpPr>
        <p:spPr>
          <a:xfrm>
            <a:off x="822899" y="1734384"/>
            <a:ext cx="10546202" cy="477053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BCC macro-BPF_PERF_OUTPUT: define a perf ring buffer map.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 Name: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file_events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(you can define on your own)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 The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eBPF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program pushes events into this buffer via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perf_submit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(),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 and user space (Python BCC) consumes them with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open_perf_buffer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*/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BPF_PERF_OUTPUT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file_events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TRACEPOINT_PROBE(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syscalls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sys_enter_openat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eBPF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function attached to the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sys_enter_openat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tracepoint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 '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 here is a pointer to an auto-generated struct provided by BCC,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exposing the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tracepoint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fields (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dfd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filename, flags, mode, etc.) as '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field_name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!!! The exact shape of this struct is derived from the kernel's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tracepoint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!!! 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to find format metadata: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cat /sys/kernel/debug/tracing/events/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syscalls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sys_enter_openat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/format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or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bpftrace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-lv '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tracepoint:syscalls:sys_enter_openat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*/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TRACEPOINT_PROBE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syscalls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sys_enter_openat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</p:txBody>
      </p:sp>
    </p:spTree>
    <p:extLst>
      <p:ext uri="{BB962C8B-B14F-4D97-AF65-F5344CB8AC3E}">
        <p14:creationId xmlns:p14="http://schemas.microsoft.com/office/powerpoint/2010/main" val="1300048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E2B33-3CF9-C04E-FFF2-F4DD4A00B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82EF335D-EF1C-31F6-F9B1-6F3D26E17B91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78A803-BCA2-283E-C721-D7F9E75D1294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92A89C4-254B-4414-CA31-31625D0D7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67818DB-E52B-2307-9959-263888462621}"/>
              </a:ext>
            </a:extLst>
          </p:cNvPr>
          <p:cNvSpPr txBox="1"/>
          <p:nvPr/>
        </p:nvSpPr>
        <p:spPr>
          <a:xfrm>
            <a:off x="483839" y="2054424"/>
            <a:ext cx="11224321" cy="40318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Allocate one event record on the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eBPF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stack (~280B, below the 512B stack limit).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file_event_t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evt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/*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Fetch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tgid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uid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/gid, and comm using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eBPF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helpers.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bpf_get_current_pid_tgid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():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- returns 64 bits: upper 32 = TGID (thread group ID == process ID), lower 32 = PID (thread ID)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- Here we store TGID into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evt.pid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(&gt;&gt; 32).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If you need TID (thread ID), cast to (u32) to use the lower 32 bits.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*/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evt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bpf_get_current_pid_tgid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/*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bpf_get_current_uid_gid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():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- returns 64 bits: lower 32 = UID, upper 32 = GID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-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evt.uid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is u32, so only the lower 32 bits (UID) are stored.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*/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evt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bpf_get_current_uid_gid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74215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29C4A-8A40-F518-1A4B-1F4C17557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4679218-3502-DFA4-7DD4-9BA91011F545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62D42C-4A89-6188-1CAB-CBF8D3600B9A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C580F8C-B895-FF89-E0E2-B61D989BC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EF72E21-E943-A5B8-0FFA-6C0C8B5121B2}"/>
              </a:ext>
            </a:extLst>
          </p:cNvPr>
          <p:cNvSpPr txBox="1"/>
          <p:nvPr/>
        </p:nvSpPr>
        <p:spPr>
          <a:xfrm>
            <a:off x="483839" y="2009363"/>
            <a:ext cx="11224321" cy="35394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Copy current task's comm (process name) into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evt.comm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The helper guarantees NUL termination.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bpf_get_current_comm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evt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evt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/*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Safely read the user pointer 'filename' passed to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openat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-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bpf_probe_read_user_str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(): reads a NUL-terminated string from user memory.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- Copies up to the given size and guarantees NUL termination.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- Returns a negative error code on failure; here we just attempt the read.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'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-&gt;filename' is a field from the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tracepoint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struct.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(With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kprobes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you would fetch arguments from registers instead.)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(we can find the functions that can attach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kprobes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with command below.)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sudo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cat /sys/kernel/debug/tracing/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available_filter_functions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| less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*/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bpf_probe_read_user_str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evt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evt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679175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05D75-1098-E464-F27F-9D1FC84C7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3D30EA5-E90A-9494-A440-6354963B7DEA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874BE8-34DE-F7DA-D39A-ED982CE6EDCF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22C076F-CF50-C0CE-7DA7-8A5F4D158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3EB4250-0A1C-2D88-1052-0842F07B1C1F}"/>
              </a:ext>
            </a:extLst>
          </p:cNvPr>
          <p:cNvSpPr txBox="1"/>
          <p:nvPr/>
        </p:nvSpPr>
        <p:spPr>
          <a:xfrm>
            <a:off x="483838" y="2367171"/>
            <a:ext cx="11224321" cy="212365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/*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Submit the collected event to the perf ring buffer.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- Passing '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 as the first argument is a common BCC convention for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(context pointer).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- User space consumes it via b["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file_events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"].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open_perf_buffer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(...).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*/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file_events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perf_submit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evt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evt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CCDB4F-288E-D4AB-52C2-234DC14C2E02}"/>
              </a:ext>
            </a:extLst>
          </p:cNvPr>
          <p:cNvSpPr txBox="1"/>
          <p:nvPr/>
        </p:nvSpPr>
        <p:spPr>
          <a:xfrm>
            <a:off x="1468692" y="4780716"/>
            <a:ext cx="9254612" cy="141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It’s okay to just copy and paste, but make sure you read the comments in the code.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Next, let’s write the Python code that handles these events in user space.</a:t>
            </a:r>
          </a:p>
        </p:txBody>
      </p:sp>
    </p:spTree>
    <p:extLst>
      <p:ext uri="{BB962C8B-B14F-4D97-AF65-F5344CB8AC3E}">
        <p14:creationId xmlns:p14="http://schemas.microsoft.com/office/powerpoint/2010/main" val="14128365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208BF-0237-C0CF-4106-E4DAA344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CBA5B576-DB22-D58A-41FC-A950EB261082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794945-2E15-A0CD-B552-1A9334CEC966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245D7CF-D30D-7E07-5104-7A8488FAF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666FD76-F1EC-DF64-166F-1CEADC9ECF43}"/>
              </a:ext>
            </a:extLst>
          </p:cNvPr>
          <p:cNvSpPr txBox="1"/>
          <p:nvPr/>
        </p:nvSpPr>
        <p:spPr>
          <a:xfrm>
            <a:off x="483839" y="2458611"/>
            <a:ext cx="11224321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bcc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BPF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1) Load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eBPF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 source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- Read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file_detect.c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from the same directory.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-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file_detect.c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defines our struct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file_event_t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and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  TRACEPOINT_PROBE(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syscalls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sys_enter_openat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  - The kernel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tracepoint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provides the filename argument, and the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    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eBPF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program sends events to a perf ring buffer.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file_detect.c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bpf_source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478271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44F4-74F4-5EF2-6539-16D7AAE59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839839F2-CA40-87DE-634E-0DC565136D4F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933AD4-BE6E-34B4-05FC-4075A76AB47F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C7FDC44-3594-0730-32C9-11539C519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690628C-BBE4-9815-DA99-08C9185710FA}"/>
              </a:ext>
            </a:extLst>
          </p:cNvPr>
          <p:cNvSpPr txBox="1"/>
          <p:nvPr/>
        </p:nvSpPr>
        <p:spPr>
          <a:xfrm>
            <a:off x="483839" y="2445067"/>
            <a:ext cx="11224321" cy="329320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2) Compile &amp; load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eBPF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- BCC uses LLVM/Clang to compile the C code and then loads the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  resulting BPF program into the kernel.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BPF(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bpf_source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3) Attach the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tracepoint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- For TRACEPOINT_PROBE(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syscalls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sys_enter_openat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in C, the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  function name in Python is "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tracepoint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syscalls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sys_enter_openat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- Some environments autoload</a:t>
            </a:r>
          </a:p>
          <a:p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#    - In this example, we don’t need to attach explicitly</a:t>
            </a:r>
            <a:endParaRPr lang="en-US" altLang="ko-KR" sz="16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6950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D6E3A-0583-7474-57B2-D7876993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87522926-EE89-F4E5-C82E-F49F8100031C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3CE938-D4B8-70F1-F035-CCCFC56AE415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4603867-611B-F5A7-EC70-F2AE22E35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90B8CB0-BB49-B7FC-EC99-C5FEA18F8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697" y="1843000"/>
            <a:ext cx="7718606" cy="38952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6A3713-2658-21BA-9FEB-DE7CA472DEC2}"/>
              </a:ext>
            </a:extLst>
          </p:cNvPr>
          <p:cNvSpPr txBox="1"/>
          <p:nvPr/>
        </p:nvSpPr>
        <p:spPr>
          <a:xfrm>
            <a:off x="1685100" y="5938332"/>
            <a:ext cx="8821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/>
              <a:t>Note: </a:t>
            </a:r>
            <a:r>
              <a:rPr lang="en-US" altLang="ko-KR" sz="1600" b="1" dirty="0" err="1"/>
              <a:t>Tracepoint</a:t>
            </a:r>
            <a:r>
              <a:rPr lang="en-US" altLang="ko-KR" sz="1600" b="1" dirty="0"/>
              <a:t> macro naming rule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950762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DDED9-4B99-EEC5-7553-E2485CAD5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A1389E24-3AFB-29ED-BD0F-95F717E193C6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40EBB4-94B9-B5E2-71E9-9EA708858E5A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5523561-154C-73BC-1510-3BEC7D5E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0337FA5-30CC-2F18-42FE-1E974A9736AA}"/>
              </a:ext>
            </a:extLst>
          </p:cNvPr>
          <p:cNvSpPr txBox="1"/>
          <p:nvPr/>
        </p:nvSpPr>
        <p:spPr>
          <a:xfrm>
            <a:off x="483839" y="1642944"/>
            <a:ext cx="11224321" cy="501675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4) Event callback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- The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eBPF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side defined BPF_PERF_OUTPUT(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file_events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), and pushes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  struct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file_event_t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via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file_events.perf_submit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- b["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file_events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"].event(data) parses that C struct layout directly,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  so we can access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event.pid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event.uid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event.comm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event.fname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on_file_event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cpu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file_events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].event(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Safely convert C char arrays to Python strings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.comm.decode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"ignore"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.fname.decode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"ignore"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rstrip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\x00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Watch target: detect access to /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/shadow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/shadow"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"[*] ALERT: 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/shadow accessed! "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"(PID: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.pid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Proc: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comm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UID: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.uid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Informational log (remove if too noisy)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] Skipped: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"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"(PID: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.pid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Proc: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comm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UID: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.uid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4894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443E5-96C6-0D0E-EE20-CF2A46193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51CA4DDC-1205-BA1E-90FD-F17B42654BF3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FF456DB-574C-0A97-648F-AF9A2DBDDF1C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388B092-A41A-1624-EE75-F6543631C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97262FD-A7A6-4B75-B3FB-C5594C618279}"/>
              </a:ext>
            </a:extLst>
          </p:cNvPr>
          <p:cNvSpPr txBox="1"/>
          <p:nvPr/>
        </p:nvSpPr>
        <p:spPr>
          <a:xfrm>
            <a:off x="483839" y="1791534"/>
            <a:ext cx="11224321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5) Open perf buffer &amp; polling loop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- Register the callback with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open_perf_buffer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-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perf_buffer_poll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 blocks and dispatches events to the callback.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- Keep looping so the program stays alive and processes events.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--------------------------------------------------------------------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file_events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open_perf_buffer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on_file_event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"[*] Monitoring for 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/shadow access... (Press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Ctrl+C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to stop)"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.perf_buffer_poll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KeyboardInterrupt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[!] Detaching BPF program and exiting..."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Deleting 'b' lets BCC detach the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tracepoint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and clean up maps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"[*] BPF program detached successfully."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947254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85FA0-4FAD-9217-7A2D-C1A8C3F01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0D4B960-347D-D63B-5A08-8C69996A02BC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6F27D1-304C-325C-FE90-405046084E61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E531AE2-9FF2-02E3-430F-9931B5A13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089120AC-9D2D-CB33-4160-A08BFE967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149" y="2788969"/>
            <a:ext cx="10021699" cy="26292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679496-96F2-AEDC-0B6D-62D0F0246309}"/>
              </a:ext>
            </a:extLst>
          </p:cNvPr>
          <p:cNvSpPr txBox="1"/>
          <p:nvPr/>
        </p:nvSpPr>
        <p:spPr>
          <a:xfrm>
            <a:off x="1468693" y="1881482"/>
            <a:ext cx="925461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000" dirty="0"/>
              <a:t>You must run the Python program with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</a:rPr>
              <a:t>sudo</a:t>
            </a:r>
            <a:endParaRPr lang="en-US" altLang="ko-KR" sz="2000" dirty="0">
              <a:solidFill>
                <a:schemeClr val="accent2">
                  <a:lumMod val="50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6727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A3F08-972B-85BC-8CD6-7A7AAB00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34C1EE5-6F2B-3D6B-7F6F-F2BF42AC3D3F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631A57-24EC-EEC3-8BC8-4C9269266132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3475822-F895-DE21-3A5F-CB34997E4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6651F39-0348-AFE1-AF0A-6ACFE5DCA3D5}"/>
              </a:ext>
            </a:extLst>
          </p:cNvPr>
          <p:cNvSpPr txBox="1"/>
          <p:nvPr/>
        </p:nvSpPr>
        <p:spPr>
          <a:xfrm>
            <a:off x="1558228" y="1795641"/>
            <a:ext cx="925461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You will see numerous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 err="1">
                <a:solidFill>
                  <a:srgbClr val="FF0000"/>
                </a:solidFill>
              </a:rPr>
              <a:t>openat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/>
              <a:t>calls; most of them are skipped</a:t>
            </a:r>
            <a:endParaRPr lang="en-US" altLang="ko-KR" sz="2000" dirty="0">
              <a:solidFill>
                <a:schemeClr val="accent2">
                  <a:lumMod val="50000"/>
                </a:scheme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B2D493-B137-24AF-28BC-14D3BCF18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159" y="2442832"/>
            <a:ext cx="10040751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4207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10758-29A8-7C70-9E0A-CEF379BC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15B08B6-57FF-4F77-F101-754B8FD97D2D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1197A8A-1980-A23B-767D-34C713DD7684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</a:t>
              </a:r>
              <a:r>
                <a:rPr lang="en-US" altLang="ko-KR" sz="2800" dirty="0"/>
                <a:t>Alert on Sensitive File Access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F95A985-4EA9-71D0-E55E-AE012A751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058E9B6-DA5A-39DB-6E4E-806AFE90E628}"/>
              </a:ext>
            </a:extLst>
          </p:cNvPr>
          <p:cNvSpPr txBox="1"/>
          <p:nvPr/>
        </p:nvSpPr>
        <p:spPr>
          <a:xfrm>
            <a:off x="1558228" y="1795641"/>
            <a:ext cx="9254612" cy="2341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Open another terminal and run any command with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</a:rPr>
              <a:t>sudo</a:t>
            </a:r>
            <a:endParaRPr lang="en-US" altLang="ko-KR" sz="2000" dirty="0"/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>
                <a:latin typeface="맑은 고딕" panose="020B0503020000020004" pitchFamily="50" charset="-127"/>
              </a:rPr>
              <a:t>You should see an alert, because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sudo</a:t>
            </a:r>
            <a:r>
              <a:rPr lang="en-US" altLang="ko-KR" sz="2000" dirty="0">
                <a:latin typeface="맑은 고딕" panose="020B0503020000020004" pitchFamily="50" charset="-127"/>
              </a:rPr>
              <a:t> </a:t>
            </a:r>
            <a:r>
              <a:rPr lang="en-US" altLang="ko-KR" sz="2000" dirty="0"/>
              <a:t>performs user authentication and reads </a:t>
            </a:r>
            <a:r>
              <a:rPr lang="en-US" altLang="ko-KR" sz="2000" dirty="0">
                <a:solidFill>
                  <a:srgbClr val="FF0000"/>
                </a:solidFill>
                <a:latin typeface="맑은 고딕" panose="020B0503020000020004" pitchFamily="50" charset="-127"/>
              </a:rPr>
              <a:t>/</a:t>
            </a:r>
            <a:r>
              <a:rPr lang="en-US" altLang="ko-KR" sz="200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etc</a:t>
            </a:r>
            <a:r>
              <a:rPr lang="en-US" altLang="ko-KR" sz="2000" dirty="0">
                <a:solidFill>
                  <a:srgbClr val="FF0000"/>
                </a:solidFill>
                <a:latin typeface="맑은 고딕" panose="020B0503020000020004" pitchFamily="50" charset="-127"/>
              </a:rPr>
              <a:t>/shadow </a:t>
            </a:r>
            <a:r>
              <a:rPr lang="en-US" altLang="ko-KR" sz="2000" dirty="0">
                <a:latin typeface="맑은 고딕" panose="020B0503020000020004" pitchFamily="50" charset="-127"/>
              </a:rPr>
              <a:t>to check your stored password hash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If the output scrolls too fast, save the log to a file with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sudo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  <a:latin typeface="맑은 고딕" panose="020B0503020000020004" pitchFamily="50" charset="-127"/>
              </a:rPr>
              <a:t> python3 your_program.py &gt; log.txt </a:t>
            </a:r>
            <a:r>
              <a:rPr lang="en-US" altLang="ko-KR" sz="2000" dirty="0">
                <a:latin typeface="맑은 고딕" panose="020B0503020000020004" pitchFamily="50" charset="-127"/>
              </a:rPr>
              <a:t>then search for ‘ALERT’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0D0BA1-CDFD-8B86-6ADD-7C69D94CD7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4941" y="4289492"/>
            <a:ext cx="8002117" cy="11145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CC0868-0D07-4D64-58F9-22A633300E24}"/>
              </a:ext>
            </a:extLst>
          </p:cNvPr>
          <p:cNvSpPr txBox="1"/>
          <p:nvPr/>
        </p:nvSpPr>
        <p:spPr>
          <a:xfrm>
            <a:off x="832107" y="6046886"/>
            <a:ext cx="105277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※ If </a:t>
            </a:r>
            <a:r>
              <a:rPr lang="en-US" altLang="ko-KR" sz="1400" dirty="0" err="1">
                <a:latin typeface="Courier New" panose="02070309020205020404" pitchFamily="49" charset="0"/>
              </a:rPr>
              <a:t>sudo</a:t>
            </a:r>
            <a:r>
              <a:rPr lang="en-US" altLang="ko-KR" sz="1400" dirty="0"/>
              <a:t> doesn’t prompt for a password (due to its timestamp cache), it may not read </a:t>
            </a:r>
            <a:r>
              <a:rPr lang="en-US" altLang="ko-KR" sz="1400" dirty="0">
                <a:latin typeface="Courier New" panose="02070309020205020404" pitchFamily="49" charset="0"/>
              </a:rPr>
              <a:t>/</a:t>
            </a:r>
            <a:r>
              <a:rPr lang="en-US" altLang="ko-KR" sz="1400" dirty="0" err="1">
                <a:latin typeface="Courier New" panose="02070309020205020404" pitchFamily="49" charset="0"/>
              </a:rPr>
              <a:t>etc</a:t>
            </a:r>
            <a:r>
              <a:rPr lang="en-US" altLang="ko-KR" sz="1400" dirty="0">
                <a:latin typeface="Courier New" panose="02070309020205020404" pitchFamily="49" charset="0"/>
              </a:rPr>
              <a:t>/shadow</a:t>
            </a:r>
            <a:r>
              <a:rPr lang="en-US" altLang="ko-KR" sz="1400" dirty="0"/>
              <a:t> at that moment. Run </a:t>
            </a:r>
            <a:r>
              <a:rPr lang="en-US" altLang="ko-KR" sz="1400" dirty="0" err="1">
                <a:latin typeface="Courier New" panose="02070309020205020404" pitchFamily="49" charset="0"/>
              </a:rPr>
              <a:t>sudo</a:t>
            </a:r>
            <a:r>
              <a:rPr lang="en-US" altLang="ko-KR" sz="1400" dirty="0">
                <a:latin typeface="Courier New" panose="02070309020205020404" pitchFamily="49" charset="0"/>
              </a:rPr>
              <a:t> -k</a:t>
            </a:r>
            <a:r>
              <a:rPr lang="en-US" altLang="ko-KR" sz="1400" dirty="0"/>
              <a:t> to force re-authentication. Also, if your </a:t>
            </a:r>
            <a:r>
              <a:rPr lang="en-US" altLang="ko-KR" sz="1400" dirty="0" err="1">
                <a:latin typeface="Courier New" panose="02070309020205020404" pitchFamily="49" charset="0"/>
              </a:rPr>
              <a:t>sudoers</a:t>
            </a:r>
            <a:r>
              <a:rPr lang="en-US" altLang="ko-KR" sz="1400" dirty="0"/>
              <a:t> has </a:t>
            </a:r>
            <a:r>
              <a:rPr lang="en-US" altLang="ko-KR" sz="1400" dirty="0">
                <a:latin typeface="Courier New" panose="02070309020205020404" pitchFamily="49" charset="0"/>
              </a:rPr>
              <a:t>NOPASSWD</a:t>
            </a:r>
            <a:r>
              <a:rPr lang="en-US" altLang="ko-KR" sz="1400" dirty="0"/>
              <a:t> for your user/command, there won’t be a read (so no alert).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270120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6FC4F-E9BD-C559-1F5D-1D5508233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98D474-B4B0-6D13-BA31-5EC738A143C1}"/>
              </a:ext>
            </a:extLst>
          </p:cNvPr>
          <p:cNvSpPr txBox="1"/>
          <p:nvPr/>
        </p:nvSpPr>
        <p:spPr>
          <a:xfrm>
            <a:off x="4298946" y="3124493"/>
            <a:ext cx="3594125" cy="609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Advanced Exercise2</a:t>
            </a:r>
          </a:p>
        </p:txBody>
      </p:sp>
    </p:spTree>
    <p:extLst>
      <p:ext uri="{BB962C8B-B14F-4D97-AF65-F5344CB8AC3E}">
        <p14:creationId xmlns:p14="http://schemas.microsoft.com/office/powerpoint/2010/main" val="2547586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2E214-5603-430D-E5D9-05693D086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D29C37FC-F575-DDDA-7463-BEA7B87EAF6C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CD0D0D0-5ABF-66AB-2E47-5CE4C90CB734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1C98260-D1A2-0566-0FC8-2427DFF0C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034CF3E-1E47-6C5D-7211-C24B52CF57CB}"/>
              </a:ext>
            </a:extLst>
          </p:cNvPr>
          <p:cNvSpPr txBox="1"/>
          <p:nvPr/>
        </p:nvSpPr>
        <p:spPr>
          <a:xfrm>
            <a:off x="1468694" y="2012128"/>
            <a:ext cx="9254612" cy="3726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Now, let's do an exercise that is more related to networking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000" dirty="0"/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We will use XDP to change the source IP of all incoming packets to 1.1.1.1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000" dirty="0"/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To do this, we need to understand the structure of an incoming packet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000" dirty="0"/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The following explanation assumes you are familiar with the concepts of the </a:t>
            </a:r>
            <a:r>
              <a:rPr lang="en-US" altLang="ko-KR" sz="2000" dirty="0">
                <a:highlight>
                  <a:srgbClr val="FFFF00"/>
                </a:highlight>
              </a:rPr>
              <a:t>OSI 7-layer model</a:t>
            </a:r>
            <a:r>
              <a:rPr lang="en-US" altLang="ko-KR" sz="2000" dirty="0"/>
              <a:t>, as well as encapsulation and decapsulation</a:t>
            </a:r>
          </a:p>
        </p:txBody>
      </p:sp>
    </p:spTree>
    <p:extLst>
      <p:ext uri="{BB962C8B-B14F-4D97-AF65-F5344CB8AC3E}">
        <p14:creationId xmlns:p14="http://schemas.microsoft.com/office/powerpoint/2010/main" val="38930849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A5F7B-E39C-187F-B174-0E07A7172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E0007C63-F47C-3C53-FB7A-FDAB3A669EE3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B1B8799-FA54-4977-60FE-A144F605F1CA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E90A7FE-5603-63AF-4887-8B33AAA54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74EA114-581A-E61E-092D-E9B873DDF84B}"/>
              </a:ext>
            </a:extLst>
          </p:cNvPr>
          <p:cNvSpPr txBox="1"/>
          <p:nvPr/>
        </p:nvSpPr>
        <p:spPr>
          <a:xfrm>
            <a:off x="458844" y="2012128"/>
            <a:ext cx="6395146" cy="3726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We need to understand the structure of the IP header at the L3 layer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You might think that only the source IP needs to be changed, but in fact, the checksum field must be updated as well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We don't need to know the details of how the checksum is generated. That's because it's already handled by the BPF library</a:t>
            </a:r>
          </a:p>
        </p:txBody>
      </p:sp>
      <p:pic>
        <p:nvPicPr>
          <p:cNvPr id="1026" name="Picture 2" descr="IP version 4 - Packet Header의 구조 : 네이버 블로그">
            <a:extLst>
              <a:ext uri="{FF2B5EF4-FFF2-40B4-BE49-F238E27FC236}">
                <a16:creationId xmlns:a16="http://schemas.microsoft.com/office/drawing/2014/main" id="{A99E8419-CB95-8507-0FE0-F21F3B594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973" y="2384114"/>
            <a:ext cx="5395027" cy="298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9774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B0CF8-76BD-C5BF-45BB-9E6C515A3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7684446-B687-648A-8471-9DABB415555D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C26C87-8011-C7DB-F8EA-8BEC598E96A1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BD9EB05-E927-72D8-9293-E97F55DD8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163F810-A8BD-B8F8-03D9-98EDE6B5C268}"/>
              </a:ext>
            </a:extLst>
          </p:cNvPr>
          <p:cNvSpPr txBox="1"/>
          <p:nvPr/>
        </p:nvSpPr>
        <p:spPr>
          <a:xfrm>
            <a:off x="458844" y="1868165"/>
            <a:ext cx="5861946" cy="4649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Additionally, we need to understand the TCP/UDP header structure because changing the IP address also affects the TCP/UDP checksum.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In the case of UDP, the checksum is optional and is set to zero if not used, so we need to check for this.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Since the checksum calculation method is the same, we can process it with the same function used for the IP header.</a:t>
            </a:r>
          </a:p>
        </p:txBody>
      </p:sp>
      <p:pic>
        <p:nvPicPr>
          <p:cNvPr id="2051" name="Picture 3" descr="TCP Header Details">
            <a:extLst>
              <a:ext uri="{FF2B5EF4-FFF2-40B4-BE49-F238E27FC236}">
                <a16:creationId xmlns:a16="http://schemas.microsoft.com/office/drawing/2014/main" id="{7EC3BAE2-8AAA-E132-80E1-689C828BD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756" y="1642944"/>
            <a:ext cx="4724400" cy="284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UDP Header">
            <a:extLst>
              <a:ext uri="{FF2B5EF4-FFF2-40B4-BE49-F238E27FC236}">
                <a16:creationId xmlns:a16="http://schemas.microsoft.com/office/drawing/2014/main" id="{01091BF7-A88F-5B0C-6256-0DC7ED14DA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" t="3602" b="42198"/>
          <a:stretch>
            <a:fillRect/>
          </a:stretch>
        </p:blipFill>
        <p:spPr bwMode="auto">
          <a:xfrm>
            <a:off x="7008755" y="4742971"/>
            <a:ext cx="4724401" cy="1774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7422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AE8A4-0A0E-5E3B-F881-FB3A81EF8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C1DE9880-1B77-187A-7963-C5E15B1BA65C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1057AB4-8447-424B-FE28-4CD7CA62C417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E0836F1-A3B1-87B9-34D0-18AACD12D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9D655B6-30E4-A7D5-2EEF-605C63957186}"/>
              </a:ext>
            </a:extLst>
          </p:cNvPr>
          <p:cNvSpPr txBox="1"/>
          <p:nvPr/>
        </p:nvSpPr>
        <p:spPr>
          <a:xfrm>
            <a:off x="1468694" y="2012128"/>
            <a:ext cx="9254612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You can check the checksum-related functions with the </a:t>
            </a:r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man </a:t>
            </a:r>
            <a:r>
              <a:rPr lang="en-US" altLang="ko-KR" dirty="0" err="1">
                <a:solidFill>
                  <a:schemeClr val="accent2">
                    <a:lumMod val="50000"/>
                  </a:schemeClr>
                </a:solidFill>
              </a:rPr>
              <a:t>bpf</a:t>
            </a:r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-helpers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ko-KR" sz="2000" dirty="0"/>
              <a:t>command, and in this example, we will be using the </a:t>
            </a:r>
            <a:r>
              <a:rPr lang="en-US" altLang="ko-KR" dirty="0" err="1">
                <a:solidFill>
                  <a:srgbClr val="FF0000"/>
                </a:solidFill>
              </a:rPr>
              <a:t>bpf_csum_diff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/>
              <a:t>function.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FD3C7B-D0DB-B6E7-9F7C-60E6EEF5D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679" y="3337471"/>
            <a:ext cx="9494642" cy="298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12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6D6D2-7741-3EA7-197D-A4D041494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832F469D-3BBD-3A87-6A69-F25B46763D0A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CAAA59-6568-714E-ABFF-671625CD6324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9C4D002-4FA4-5E5A-3AD0-F07112EC3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05B1E8F-A30C-B049-37F3-93A948A18B5E}"/>
              </a:ext>
            </a:extLst>
          </p:cNvPr>
          <p:cNvSpPr txBox="1"/>
          <p:nvPr/>
        </p:nvSpPr>
        <p:spPr>
          <a:xfrm>
            <a:off x="495269" y="3132772"/>
            <a:ext cx="11201461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The best way to find which header a specific struct (e.g. struct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iphdr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belongs to is to search for the struct name on a Linux Kernel source code search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website like Elixir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Bootlin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(https://elixir.bootlin.com).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uapi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linux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bpf.h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Contains core BPF definitions(e.g. struct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xdp_md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XDP_PASS)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uapi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linux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if_ether.h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For the Ethernet header (struct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ethhdr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and constants(ETH_P_IP)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uapi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linux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ip.h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For the IPv4 header (struct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iphdr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uapi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linux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tcp.h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For the TCP header (struct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tcphdr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uapi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linux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udp.h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For the UDP header (struct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udphdr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uapi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linux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in.h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For protocol number constants (IPPROTO_TCP, IPPROTO_UDP)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EC7399-C1C1-9DDC-1B4A-19110144C868}"/>
              </a:ext>
            </a:extLst>
          </p:cNvPr>
          <p:cNvSpPr txBox="1"/>
          <p:nvPr/>
        </p:nvSpPr>
        <p:spPr>
          <a:xfrm>
            <a:off x="495269" y="2140611"/>
            <a:ext cx="925461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Let's start by building a C program that can modify packet headers!</a:t>
            </a:r>
          </a:p>
        </p:txBody>
      </p:sp>
    </p:spTree>
    <p:extLst>
      <p:ext uri="{BB962C8B-B14F-4D97-AF65-F5344CB8AC3E}">
        <p14:creationId xmlns:p14="http://schemas.microsoft.com/office/powerpoint/2010/main" val="5787745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1C343-B240-390A-B24F-183638AD7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C72F14A-5FB0-A079-093D-675633B72BC1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AA77A89-8193-EEC9-F616-670ACBE9A172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FCFB605-714E-9873-31AD-763759CB4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F9512D5-1E39-137F-1C52-17EA5E709095}"/>
              </a:ext>
            </a:extLst>
          </p:cNvPr>
          <p:cNvSpPr txBox="1"/>
          <p:nvPr/>
        </p:nvSpPr>
        <p:spPr>
          <a:xfrm>
            <a:off x="495269" y="2198846"/>
            <a:ext cx="11201461" cy="378565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Network communication uses big-endian as its standard, but most PC CPUs use little-endian.</a:t>
            </a:r>
            <a:endParaRPr lang="en-US" altLang="ko-K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Therefore, a conversion is necessary when sending data over the network or interpreting packet data</a:t>
            </a:r>
            <a:endParaRPr lang="en-US" altLang="ko-K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The most accurate information on this concept can be found in the Linux man pages</a:t>
            </a:r>
            <a:endParaRPr lang="en-US" altLang="ko-K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Run the `man </a:t>
            </a:r>
            <a:r>
              <a:rPr lang="en-US" altLang="ko-KR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byteorder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` command in your terminal</a:t>
            </a:r>
            <a:endParaRPr lang="en-US" altLang="ko-K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  <a:hlinkClick r:id="rId4"/>
              </a:rPr>
              <a:t>https://gcc.gnu.org/onlinedocs/gcc/Byte-Swapping-Builtins.htm</a:t>
            </a:r>
            <a:endParaRPr lang="en-US" altLang="ko-KR" sz="16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en-US" altLang="ko-KR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hton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 -&gt; host to network</a:t>
            </a:r>
            <a:endParaRPr lang="en-US" altLang="ko-K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#ifndef</a:t>
            </a:r>
            <a:r>
              <a:rPr lang="en-US" altLang="ko-KR" sz="1600" dirty="0">
                <a:solidFill>
                  <a:srgbClr val="569CD6"/>
                </a:solidFill>
                <a:latin typeface="Consolas" panose="020B0609020204030204" pitchFamily="49" charset="0"/>
              </a:rPr>
              <a:t> bpf_hton_32</a:t>
            </a:r>
            <a:endParaRPr lang="en-US" altLang="ko-K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ko-KR" sz="1600" dirty="0">
                <a:solidFill>
                  <a:srgbClr val="569CD6"/>
                </a:solidFill>
                <a:latin typeface="Consolas" panose="020B0609020204030204" pitchFamily="49" charset="0"/>
              </a:rPr>
              <a:t> bpf_hton_32(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600" dirty="0">
                <a:solidFill>
                  <a:srgbClr val="569CD6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dirty="0">
                <a:solidFill>
                  <a:srgbClr val="DCDCAA"/>
                </a:solidFill>
                <a:latin typeface="Consolas" panose="020B0609020204030204" pitchFamily="49" charset="0"/>
              </a:rPr>
              <a:t>__builtin_bswap32</a:t>
            </a:r>
            <a:r>
              <a:rPr lang="en-US" altLang="ko-KR" sz="1600" dirty="0">
                <a:solidFill>
                  <a:srgbClr val="569CD6"/>
                </a:solidFill>
                <a:latin typeface="Consolas" panose="020B0609020204030204" pitchFamily="49" charset="0"/>
              </a:rPr>
              <a:t>(x)</a:t>
            </a:r>
            <a:endParaRPr lang="en-US" altLang="ko-K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#endif</a:t>
            </a:r>
            <a:endParaRPr lang="en-US" altLang="ko-K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#ifndef</a:t>
            </a:r>
            <a:r>
              <a:rPr lang="en-US" altLang="ko-KR" sz="1600" dirty="0">
                <a:solidFill>
                  <a:srgbClr val="569CD6"/>
                </a:solidFill>
                <a:latin typeface="Consolas" panose="020B0609020204030204" pitchFamily="49" charset="0"/>
              </a:rPr>
              <a:t> bpf_hton_16</a:t>
            </a:r>
            <a:endParaRPr lang="en-US" altLang="ko-K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ko-KR" sz="1600" dirty="0">
                <a:solidFill>
                  <a:srgbClr val="569CD6"/>
                </a:solidFill>
                <a:latin typeface="Consolas" panose="020B0609020204030204" pitchFamily="49" charset="0"/>
              </a:rPr>
              <a:t> bpf_hton_16(</a:t>
            </a:r>
            <a:r>
              <a:rPr lang="en-US" altLang="ko-KR" sz="16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600" dirty="0">
                <a:solidFill>
                  <a:srgbClr val="569CD6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600" dirty="0">
                <a:solidFill>
                  <a:srgbClr val="DCDCAA"/>
                </a:solidFill>
                <a:latin typeface="Consolas" panose="020B0609020204030204" pitchFamily="49" charset="0"/>
              </a:rPr>
              <a:t>__builtin_bswap16</a:t>
            </a:r>
            <a:r>
              <a:rPr lang="en-US" altLang="ko-KR" sz="1600" dirty="0">
                <a:solidFill>
                  <a:srgbClr val="569CD6"/>
                </a:solidFill>
                <a:latin typeface="Consolas" panose="020B0609020204030204" pitchFamily="49" charset="0"/>
              </a:rPr>
              <a:t>(x)</a:t>
            </a:r>
            <a:endParaRPr lang="en-US" altLang="ko-K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#endif</a:t>
            </a:r>
            <a:endParaRPr lang="en-US" altLang="ko-K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Defines the new source IP address (1.1.1.1) as a constant.</a:t>
            </a:r>
            <a:endParaRPr lang="en-US" altLang="ko-K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C586C0"/>
                </a:solidFill>
                <a:latin typeface="Consolas" panose="020B0609020204030204" pitchFamily="49" charset="0"/>
              </a:rPr>
              <a:t>#define</a:t>
            </a:r>
            <a:r>
              <a:rPr lang="en-US" altLang="ko-KR" sz="1600" dirty="0">
                <a:solidFill>
                  <a:srgbClr val="569CD6"/>
                </a:solidFill>
                <a:latin typeface="Consolas" panose="020B0609020204030204" pitchFamily="49" charset="0"/>
              </a:rPr>
              <a:t> NEW_SADDR </a:t>
            </a:r>
            <a:r>
              <a:rPr lang="en-US" altLang="ko-KR" sz="1600" dirty="0">
                <a:solidFill>
                  <a:srgbClr val="DCDCAA"/>
                </a:solidFill>
                <a:latin typeface="Consolas" panose="020B0609020204030204" pitchFamily="49" charset="0"/>
              </a:rPr>
              <a:t>bpf_hton_32</a:t>
            </a:r>
            <a:r>
              <a:rPr lang="en-US" altLang="ko-KR" sz="1600" dirty="0">
                <a:solidFill>
                  <a:srgbClr val="569CD6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>
                <a:solidFill>
                  <a:srgbClr val="B5CEA8"/>
                </a:solidFill>
                <a:latin typeface="Consolas" panose="020B0609020204030204" pitchFamily="49" charset="0"/>
              </a:rPr>
              <a:t>0x01010101</a:t>
            </a:r>
            <a:r>
              <a:rPr lang="en-US" altLang="ko-KR" sz="1600" dirty="0">
                <a:solidFill>
                  <a:srgbClr val="569CD6"/>
                </a:solidFill>
                <a:latin typeface="Consolas" panose="020B0609020204030204" pitchFamily="49" charset="0"/>
              </a:rPr>
              <a:t>)</a:t>
            </a:r>
            <a:endParaRPr lang="en-US" altLang="ko-KR" sz="16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0235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1DFBA-ED72-D614-4172-7030362E7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D58CAF5-FD8D-5DCF-7115-684053735B6B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BB746F7-5E0E-4F90-758E-387475A78114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4CE1D89-E372-2E50-1245-9A32807B9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7862FB2-33E9-9447-211B-366AAC645F76}"/>
              </a:ext>
            </a:extLst>
          </p:cNvPr>
          <p:cNvSpPr txBox="1"/>
          <p:nvPr/>
        </p:nvSpPr>
        <p:spPr>
          <a:xfrm>
            <a:off x="495269" y="2073116"/>
            <a:ext cx="11201461" cy="40318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static: Restricts the scope of this function to the current file, preventing name collisions.</a:t>
            </a:r>
          </a:p>
          <a:p>
            <a:pPr>
              <a:buNone/>
            </a:pP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inline: Suggests to the compiler that it should copy-paste the function code at the</a:t>
            </a:r>
          </a:p>
          <a:p>
            <a:pPr>
              <a:buNone/>
            </a:pP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        call site instead of making a function call, optimizing performance and</a:t>
            </a:r>
          </a:p>
          <a:p>
            <a:pPr>
              <a:buNone/>
            </a:pP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        bypassing the BPF Verifier's constraints on function calls.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__sum16: A type representing a 16-bit checksum field.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__be32: A type representing a 32-bit big-endian (network byte order) integer.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__s64: A type representing a 64-bit signed integer.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csum_replace4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(__sum16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csum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__be32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__be32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//Use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bpf_csum_diff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to calculate the checksum difference between the old value (from) and the new value (to)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__s64 diff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bpf_csum_diff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from, </a:t>
            </a:r>
            <a:r>
              <a:rPr lang="en-US" altLang="ko-K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(from),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to, </a:t>
            </a:r>
            <a:r>
              <a:rPr lang="en-US" altLang="ko-K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(to),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(diff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Add the difference to the actual checksum field (*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csum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bpf_csum_diff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csum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(__sum16), diff);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34173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00E0F-6BEF-8F44-A8D8-BD6CDA78B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F03DD0A-E64A-5E95-79F3-B7B54E7EFD25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37536F-AB9D-A4F9-D955-AF08FB84D446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F1C3901-16B0-E72A-E447-AB3DF9A0F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83FC24B-68D3-C8C0-57E9-774A9009147A}"/>
              </a:ext>
            </a:extLst>
          </p:cNvPr>
          <p:cNvSpPr txBox="1"/>
          <p:nvPr/>
        </p:nvSpPr>
        <p:spPr>
          <a:xfrm>
            <a:off x="495269" y="1722954"/>
            <a:ext cx="11201461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xdp_ip_changer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xdp_md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en-US" altLang="ko-KR" sz="1600" dirty="0" err="1">
                <a:solidFill>
                  <a:srgbClr val="6A9955"/>
                </a:solidFill>
                <a:latin typeface="Consolas" panose="020B0609020204030204" pitchFamily="49" charset="0"/>
              </a:rPr>
              <a:t>ctx</a:t>
            </a:r>
            <a:r>
              <a:rPr lang="en-US" altLang="ko-KR" sz="1600" dirty="0">
                <a:solidFill>
                  <a:srgbClr val="6A9955"/>
                </a:solidFill>
                <a:latin typeface="Consolas" panose="020B0609020204030204" pitchFamily="49" charset="0"/>
              </a:rPr>
              <a:t> is metadata passed by the kernel to the XDP program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Get the start address (data) and end address (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data_end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of the packet data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data_end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data_end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    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The outermost header of the packet is the Ethernet header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ethhdr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eth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data;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BPF Boundary Check: We must prevent the BPF program from accessing memory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beyond the end of the packet. The BPF Verifier will not load the program without such checks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https://docs.cilium.io/en/stable/reference-guides/bpf/index.html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More details are in the document above, but for now, we just accept it as a requirement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We must always check if "current pointer + size to read &gt; end of data".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)eth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eth)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data_end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XDP_PASS; 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If the packet is shorter than an Ethernet header, don't process it and pass it to the kernel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It could be an unknown protocol or a test packet, so let the upper layers handle it.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2133847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4EE0-766F-403B-97C3-E539D73C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43AA627-029F-154A-D06B-ACCF15341B0C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3AFB432-5D8F-64AE-471F-0FB4B78D22C3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72C17B8-C98E-C3A1-0E7A-7086AC574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F2F25CF-492F-5B24-C5F4-8DDDEFFCF0C3}"/>
              </a:ext>
            </a:extLst>
          </p:cNvPr>
          <p:cNvSpPr txBox="1"/>
          <p:nvPr/>
        </p:nvSpPr>
        <p:spPr>
          <a:xfrm>
            <a:off x="495269" y="1642944"/>
            <a:ext cx="11201461" cy="501675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If the Ethernet frame's protocol type is not IPv4 (0x0800), do not process it.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Use `bpf_hton_16` to compare with the network byte order value.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eth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h_proto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bpf_hton_16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(ETH_P_IP))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XDP_PASS;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The IP header is located immediately after the Ethernet header.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iphdr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data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eth);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data_end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Check if there's enough space for a minimal IP header (20 bytes).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XDP_PASS;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The IHL(Internet Header Length) field in the IP header specifies the header length in 4-byte words.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If IP options are included, the header can be longer than 20 bytes, so we must calculate the exact length.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__u32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ip_header_len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ihl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ip_header_len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data_end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If the packet is shorter than an IP header, don't process it and pass it to the kernel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en-US" altLang="ko-KR" sz="1600" dirty="0">
                <a:solidFill>
                  <a:srgbClr val="CCCCCC"/>
                </a:solidFill>
                <a:latin typeface="Consolas" panose="020B0609020204030204" pitchFamily="49" charset="0"/>
              </a:rPr>
              <a:t>	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XDP_PASS;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3303705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6B8A4-D6E0-DC25-A31D-854127567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6AB2763-D68C-FF1F-298D-EE70D0EF59BC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B3D1BEB-B996-BCC1-4020-247FBD8C96D4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8C0EA6B-425A-0AB0-B488-E935B3E70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CF6DF45-74FD-AF60-C161-9F7642F05CED}"/>
              </a:ext>
            </a:extLst>
          </p:cNvPr>
          <p:cNvSpPr txBox="1"/>
          <p:nvPr/>
        </p:nvSpPr>
        <p:spPr>
          <a:xfrm>
            <a:off x="495269" y="2534484"/>
            <a:ext cx="11201461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__be32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old_saddr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saddr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Store the original IP address to use later for checksum calculation.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__be32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new_saddr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NEW_SADDR;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Overwrite the source IP address with the new address.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saddr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new_saddr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Update the L3 (IP) checksum. Since the IP address has changed, the checksum must also be changed.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csum_replace4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old_saddr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new_saddr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The L4 (TCP/UDP) checksum is calculated based on a Pseudo-header,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which includes the source/destination IP addresses. 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Therefore, if the IP address changes, the L4 checksum must also be recalculated.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1549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E3572-7D95-D972-9344-009A207A2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1A424FE-D4C2-F98B-3F43-16C95C31B222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089822-4846-D970-546C-484B040AB9AF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B13B4F9-3998-A043-1F86-3C01127EC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199F813-50D4-2329-AF0E-B6D41DFB08DB}"/>
              </a:ext>
            </a:extLst>
          </p:cNvPr>
          <p:cNvSpPr txBox="1"/>
          <p:nvPr/>
        </p:nvSpPr>
        <p:spPr>
          <a:xfrm>
            <a:off x="495269" y="1642944"/>
            <a:ext cx="11201461" cy="501675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protocol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IPPROTO_TCP)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tcphdr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ip_header_len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The TCP header is right after the IP header.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data_end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csum_replace4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old_saddr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new_saddr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Update TCP checksum.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protocol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IPPROTO_UDP)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udphdr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udp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ip_header_len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The UDP header is right after the IP header.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udp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udp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data_end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The UDP checksum is optional and can be zero. Only update it if it's not zero.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udp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csum_replace4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udp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old_saddr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new_saddr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Update UDP checksum.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XDP_PASS;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LICENSE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"GPL"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180531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C46F2-472E-883D-8539-B1A8A371A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6007DF2-9241-F929-E13E-8AABD5E774FF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3E840C8-ED78-ED85-9698-38EFD5E03E77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0E75C08-AFC6-CFFC-1E29-568553C9D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C46EF74-6C68-6154-0DE1-6FF3930223D9}"/>
              </a:ext>
            </a:extLst>
          </p:cNvPr>
          <p:cNvSpPr txBox="1"/>
          <p:nvPr/>
        </p:nvSpPr>
        <p:spPr>
          <a:xfrm>
            <a:off x="495269" y="2507441"/>
            <a:ext cx="11201461" cy="40318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argparse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bcc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BPF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Correctly importing the BCC library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argparse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ArgumentParser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"Load an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eBPF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XDP program to change IP addresses."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add_argument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"--interface"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help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"Network interface to attach the XDP program to (e.g., eth0)"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parse_args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.interface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c_file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xdp_ip_changer_kern.c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variable will hold our BPF object. We define it here to access it in the finally block.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5375DC-D25F-BA46-F260-7A585810930E}"/>
              </a:ext>
            </a:extLst>
          </p:cNvPr>
          <p:cNvSpPr txBox="1"/>
          <p:nvPr/>
        </p:nvSpPr>
        <p:spPr>
          <a:xfrm>
            <a:off x="495269" y="1840129"/>
            <a:ext cx="1046610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Now, let's write the Python code to run the C program we just wrote. It's very simple!</a:t>
            </a:r>
          </a:p>
        </p:txBody>
      </p:sp>
    </p:spTree>
    <p:extLst>
      <p:ext uri="{BB962C8B-B14F-4D97-AF65-F5344CB8AC3E}">
        <p14:creationId xmlns:p14="http://schemas.microsoft.com/office/powerpoint/2010/main" val="22422494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F3CCB-E368-BEBF-E831-F68219725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EA7BD97A-F2E7-471C-55F2-564FF48DE987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F4DA50-88B6-3CAE-E7DA-D6C75E585FEB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B795819-EF7D-D409-EB81-2C3BAA265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353A108-3BA4-E725-7555-1CC104BA7468}"/>
              </a:ext>
            </a:extLst>
          </p:cNvPr>
          <p:cNvSpPr txBox="1"/>
          <p:nvPr/>
        </p:nvSpPr>
        <p:spPr>
          <a:xfrm>
            <a:off x="495269" y="2046868"/>
            <a:ext cx="11201461" cy="40318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Use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src_file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to load the C source. BCC compiles it automatically in the background.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BPF(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src_file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c_file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Load the specific function '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xdp_ip_changer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 from the compiled source as an XDP program.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.load_func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xdp_ip_changer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BPF.XDP)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"[*] Attaching XDP program from source 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c_file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 to device 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)..."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Attach the loaded function to the XDP hook of the actual network device.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Once this function executes successfully, from this point on, every packet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coming into the device will pass through our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eBPF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program.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.attach_xdp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"[*] Successfully attached!"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"[*] Press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Ctrl+C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to detach and exit."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When the Python script exits, the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eBPF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program is automatically detached from the interface.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Therefore, we put the script into an infinite loop to keep the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eBPF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program running.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980631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E189C-56D3-16B5-EFB4-D76DF820D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DA3ABD41-C8E7-79F9-AA67-8B9997421B71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D7DB8B-0A58-C1CA-6D69-B5D3F6D93A4C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06A7EF3-3F4D-A00B-018C-933223970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89814DF-0902-6CB8-BC90-93A5312D1D41}"/>
              </a:ext>
            </a:extLst>
          </p:cNvPr>
          <p:cNvSpPr txBox="1"/>
          <p:nvPr/>
        </p:nvSpPr>
        <p:spPr>
          <a:xfrm>
            <a:off x="495269" y="2355478"/>
            <a:ext cx="11201461" cy="30469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KeyboardInterrupt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block is executed when the user presses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Ctrl+C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[*] Detaching XDP program from device (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)..."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block is executed for any other unexpected errors.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error occurred: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stderr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The `finally` block always executes to ensure the program is detached.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We call </a:t>
            </a:r>
            <a:r>
              <a:rPr lang="en-US" altLang="ko-K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remove_xdp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to clean up the attachment from the network device.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.remove_xdp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"[*] Program detached. Exiting."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328254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AA509-EF09-3C95-1C27-E596E233E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23A03E6-447F-C4D0-BB4C-1144E0EF5085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592373-52C3-D93E-663E-4FAE530800C4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17054EC-0F8D-A74E-ED9B-6CED17B07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2E56D13-8A3E-9B33-F42E-10BE02FCD38A}"/>
              </a:ext>
            </a:extLst>
          </p:cNvPr>
          <p:cNvSpPr txBox="1"/>
          <p:nvPr/>
        </p:nvSpPr>
        <p:spPr>
          <a:xfrm>
            <a:off x="1468694" y="2253318"/>
            <a:ext cx="9254612" cy="326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First, find your network interface using the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ko-KR" sz="2000" dirty="0" err="1">
                <a:solidFill>
                  <a:schemeClr val="accent2">
                    <a:lumMod val="50000"/>
                  </a:schemeClr>
                </a:solidFill>
              </a:rPr>
              <a:t>ifconfig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ko-KR" sz="2000" dirty="0"/>
              <a:t>command.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000" dirty="0"/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Before the program running, launch Wireshark.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000" dirty="0"/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Then, run Chrome (to generate traffic) and the Python script we wrote.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000" dirty="0"/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000" dirty="0"/>
              <a:t>You will see that the source IP for all packets has been changed to 1.1.1.1!</a:t>
            </a:r>
          </a:p>
        </p:txBody>
      </p:sp>
    </p:spTree>
    <p:extLst>
      <p:ext uri="{BB962C8B-B14F-4D97-AF65-F5344CB8AC3E}">
        <p14:creationId xmlns:p14="http://schemas.microsoft.com/office/powerpoint/2010/main" val="11678795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A5DB-755E-DF45-3BF2-DD67A7225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A2DABC1-D87B-0AC6-C171-251BA142F921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EEDCB57-535D-478F-D30A-FCDE13C0572A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86E3F66-2633-CA46-3D6A-F86324BB5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A9D97AB1-0C67-0086-4FDA-302030AD1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501" y="1998762"/>
            <a:ext cx="7237018" cy="176879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86BAA1F-F121-3EFA-A799-29031206C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9900" y="3767554"/>
            <a:ext cx="6172200" cy="2390775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276A601D-A929-8D13-8B44-F88716863F5C}"/>
              </a:ext>
            </a:extLst>
          </p:cNvPr>
          <p:cNvSpPr/>
          <p:nvPr/>
        </p:nvSpPr>
        <p:spPr>
          <a:xfrm>
            <a:off x="2457450" y="1897380"/>
            <a:ext cx="880110" cy="5232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3157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B4769-7D68-B395-956A-8BB1F803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394C4A5A-39F8-8B21-B792-301A5A06997C}"/>
              </a:ext>
            </a:extLst>
          </p:cNvPr>
          <p:cNvGrpSpPr/>
          <p:nvPr/>
        </p:nvGrpSpPr>
        <p:grpSpPr>
          <a:xfrm>
            <a:off x="164064" y="1119724"/>
            <a:ext cx="10100076" cy="523220"/>
            <a:chOff x="164064" y="1119724"/>
            <a:chExt cx="1010007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FD15847-8A2D-FA85-0583-B1EF055028DE}"/>
                </a:ext>
              </a:extLst>
            </p:cNvPr>
            <p:cNvSpPr txBox="1"/>
            <p:nvPr/>
          </p:nvSpPr>
          <p:spPr>
            <a:xfrm>
              <a:off x="769498" y="1119724"/>
              <a:ext cx="94946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Advanced Exercise: Source IP </a:t>
              </a:r>
              <a:r>
                <a:rPr lang="en-US" altLang="ko-KR" sz="2800" dirty="0"/>
                <a:t>Modification</a:t>
              </a:r>
              <a:endParaRPr lang="en-US" altLang="ko-KR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C63991B-DDB4-55E4-FF93-A2A135FE4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15FC4253-486D-7B36-E0C2-3F88BA072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450" y="2212657"/>
            <a:ext cx="8801100" cy="2752725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AF2E6452-AB6C-1C11-5603-5F9A959A1AB0}"/>
              </a:ext>
            </a:extLst>
          </p:cNvPr>
          <p:cNvSpPr/>
          <p:nvPr/>
        </p:nvSpPr>
        <p:spPr>
          <a:xfrm>
            <a:off x="3417570" y="2674618"/>
            <a:ext cx="971550" cy="19773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F02EBC-A1CD-17DA-9C0A-EFD536015839}"/>
              </a:ext>
            </a:extLst>
          </p:cNvPr>
          <p:cNvSpPr txBox="1"/>
          <p:nvPr/>
        </p:nvSpPr>
        <p:spPr>
          <a:xfrm>
            <a:off x="1695450" y="5260196"/>
            <a:ext cx="7041636" cy="95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9875" lvl="0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  <a:defRPr/>
            </a:pPr>
            <a:r>
              <a:rPr lang="en-US" altLang="ko-KR" sz="2000" dirty="0"/>
              <a:t>Taking this technique a step further, </a:t>
            </a:r>
            <a:br>
              <a:rPr lang="en-US" altLang="ko-KR" sz="2000" dirty="0"/>
            </a:br>
            <a:r>
              <a:rPr lang="en-US" altLang="ko-KR" sz="2000" dirty="0"/>
              <a:t>you could even build a backdoor to bypass a firewall!!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149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10613</TotalTime>
  <Words>6900</Words>
  <Application>Microsoft Office PowerPoint</Application>
  <PresentationFormat>와이드스크린</PresentationFormat>
  <Paragraphs>609</Paragraphs>
  <Slides>65</Slides>
  <Notes>65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6" baseType="lpstr">
      <vt:lpstr>ONE 모바일고딕 Regular</vt:lpstr>
      <vt:lpstr>Pretendard Medium</vt:lpstr>
      <vt:lpstr>SF싸락눈</vt:lpstr>
      <vt:lpstr>강원교육튼튼</vt:lpstr>
      <vt:lpstr>말싸미815</vt:lpstr>
      <vt:lpstr>맑은 고딕</vt:lpstr>
      <vt:lpstr>Arial</vt:lpstr>
      <vt:lpstr>Consolas</vt:lpstr>
      <vt:lpstr>Courier New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안수현</dc:creator>
  <cp:lastModifiedBy>임도현</cp:lastModifiedBy>
  <cp:revision>264</cp:revision>
  <dcterms:created xsi:type="dcterms:W3CDTF">2025-02-04T05:54:06Z</dcterms:created>
  <dcterms:modified xsi:type="dcterms:W3CDTF">2025-11-02T14:04:06Z</dcterms:modified>
</cp:coreProperties>
</file>